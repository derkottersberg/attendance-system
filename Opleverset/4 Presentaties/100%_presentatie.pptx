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6"/>
  </p:notesMasterIdLst>
  <p:sldIdLst>
    <p:sldId id="258" r:id="rId2"/>
    <p:sldId id="257" r:id="rId3"/>
    <p:sldId id="285" r:id="rId4"/>
    <p:sldId id="269" r:id="rId5"/>
    <p:sldId id="276" r:id="rId6"/>
    <p:sldId id="274" r:id="rId7"/>
    <p:sldId id="288" r:id="rId8"/>
    <p:sldId id="280" r:id="rId9"/>
    <p:sldId id="277" r:id="rId10"/>
    <p:sldId id="268" r:id="rId11"/>
    <p:sldId id="271" r:id="rId12"/>
    <p:sldId id="287" r:id="rId13"/>
    <p:sldId id="272" r:id="rId14"/>
    <p:sldId id="28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B1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7F6B3F-DDBF-E896-766F-E9E86B24045E}" v="20" dt="2025-07-02T13:01:01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67554" autoAdjust="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DD5736-C171-AA4B-9366-B3CBD1A76692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NL"/>
        </a:p>
      </dgm:t>
    </dgm:pt>
    <dgm:pt modelId="{39794703-9041-5C41-BE55-5A8208B02B05}">
      <dgm:prSet phldrT="[Tekst]"/>
      <dgm:spPr/>
      <dgm:t>
        <a:bodyPr/>
        <a:lstStyle/>
        <a:p>
          <a:r>
            <a:rPr lang="nl-NL" dirty="0">
              <a:solidFill>
                <a:schemeClr val="bg2"/>
              </a:solidFill>
              <a:latin typeface="Abadi" panose="020B0604020104020204" pitchFamily="34" charset="0"/>
            </a:rPr>
            <a:t>Demo</a:t>
          </a:r>
        </a:p>
      </dgm:t>
    </dgm:pt>
    <dgm:pt modelId="{75D2434B-4B12-774D-A434-1376C706E00B}" type="parTrans" cxnId="{520585ED-81C0-6642-B06F-5B2A702E4BF3}">
      <dgm:prSet/>
      <dgm:spPr/>
      <dgm:t>
        <a:bodyPr/>
        <a:lstStyle/>
        <a:p>
          <a:endParaRPr lang="nl-NL"/>
        </a:p>
      </dgm:t>
    </dgm:pt>
    <dgm:pt modelId="{3C1A5732-3905-F945-A921-D021C75DC541}" type="sibTrans" cxnId="{520585ED-81C0-6642-B06F-5B2A702E4BF3}">
      <dgm:prSet/>
      <dgm:spPr/>
      <dgm:t>
        <a:bodyPr/>
        <a:lstStyle/>
        <a:p>
          <a:endParaRPr lang="nl-NL"/>
        </a:p>
      </dgm:t>
    </dgm:pt>
    <dgm:pt modelId="{1387673C-B790-4E90-92EE-B8CA4DB60C60}">
      <dgm:prSet phldrT="[Tekst]"/>
      <dgm:spPr/>
      <dgm:t>
        <a:bodyPr/>
        <a:lstStyle/>
        <a:p>
          <a:r>
            <a:rPr lang="nl-NL" dirty="0">
              <a:solidFill>
                <a:schemeClr val="bg2"/>
              </a:solidFill>
              <a:latin typeface="Abadi" panose="020B0604020104020204" pitchFamily="34" charset="0"/>
            </a:rPr>
            <a:t>Context </a:t>
          </a:r>
        </a:p>
      </dgm:t>
    </dgm:pt>
    <dgm:pt modelId="{94457391-D3C9-48F8-8493-D4E9586DA8A8}" type="parTrans" cxnId="{66A2E2D6-92B3-4FFD-95BC-51A844104606}">
      <dgm:prSet/>
      <dgm:spPr/>
      <dgm:t>
        <a:bodyPr/>
        <a:lstStyle/>
        <a:p>
          <a:endParaRPr lang="LID4096"/>
        </a:p>
      </dgm:t>
    </dgm:pt>
    <dgm:pt modelId="{9AB7E4AE-B567-4E04-82C4-F14042F19143}" type="sibTrans" cxnId="{66A2E2D6-92B3-4FFD-95BC-51A844104606}">
      <dgm:prSet/>
      <dgm:spPr/>
      <dgm:t>
        <a:bodyPr/>
        <a:lstStyle/>
        <a:p>
          <a:endParaRPr lang="LID4096"/>
        </a:p>
      </dgm:t>
    </dgm:pt>
    <dgm:pt modelId="{EE59E2F3-4081-41D0-8190-3348BBCF3A5A}">
      <dgm:prSet/>
      <dgm:spPr/>
      <dgm:t>
        <a:bodyPr/>
        <a:lstStyle/>
        <a:p>
          <a:r>
            <a:rPr lang="en-GB" dirty="0">
              <a:latin typeface="Abadi" panose="020B0604020104020204" pitchFamily="34" charset="0"/>
            </a:rPr>
            <a:t>Het </a:t>
          </a:r>
          <a:r>
            <a:rPr lang="en-GB" dirty="0" err="1">
              <a:latin typeface="Abadi" panose="020B0604020104020204" pitchFamily="34" charset="0"/>
            </a:rPr>
            <a:t>probleem</a:t>
          </a:r>
          <a:endParaRPr lang="en-GB" dirty="0">
            <a:latin typeface="Abadi" panose="020B0604020104020204" pitchFamily="34" charset="0"/>
          </a:endParaRPr>
        </a:p>
      </dgm:t>
    </dgm:pt>
    <dgm:pt modelId="{282807B3-4CC8-4E19-8254-2A4C4887DBBE}" type="parTrans" cxnId="{70D38E0C-4F73-4360-8196-0A7A3DC704AB}">
      <dgm:prSet/>
      <dgm:spPr/>
      <dgm:t>
        <a:bodyPr/>
        <a:lstStyle/>
        <a:p>
          <a:endParaRPr lang="LID4096"/>
        </a:p>
      </dgm:t>
    </dgm:pt>
    <dgm:pt modelId="{F111041C-BD3E-49AB-ACA9-BD246553A042}" type="sibTrans" cxnId="{70D38E0C-4F73-4360-8196-0A7A3DC704AB}">
      <dgm:prSet/>
      <dgm:spPr/>
      <dgm:t>
        <a:bodyPr/>
        <a:lstStyle/>
        <a:p>
          <a:endParaRPr lang="LID4096"/>
        </a:p>
      </dgm:t>
    </dgm:pt>
    <dgm:pt modelId="{8AEE7D92-A117-49C7-B150-827D13A5E366}">
      <dgm:prSet/>
      <dgm:spPr/>
      <dgm:t>
        <a:bodyPr/>
        <a:lstStyle/>
        <a:p>
          <a:r>
            <a:rPr lang="en-GB" dirty="0">
              <a:latin typeface="Abadi" panose="020B0604020104020204" pitchFamily="34" charset="0"/>
            </a:rPr>
            <a:t>De </a:t>
          </a:r>
          <a:r>
            <a:rPr lang="en-GB" dirty="0" err="1">
              <a:latin typeface="Abadi" panose="020B0604020104020204" pitchFamily="34" charset="0"/>
            </a:rPr>
            <a:t>Oplossing</a:t>
          </a:r>
          <a:endParaRPr lang="LID4096" dirty="0">
            <a:latin typeface="Abadi" panose="020B0604020104020204" pitchFamily="34" charset="0"/>
          </a:endParaRPr>
        </a:p>
      </dgm:t>
    </dgm:pt>
    <dgm:pt modelId="{1A4C6871-B7B6-4A8E-B0D1-B3B2F2AEF4AE}" type="parTrans" cxnId="{F9541080-4995-4A56-BCE9-319DD9604396}">
      <dgm:prSet/>
      <dgm:spPr/>
      <dgm:t>
        <a:bodyPr/>
        <a:lstStyle/>
        <a:p>
          <a:endParaRPr lang="LID4096"/>
        </a:p>
      </dgm:t>
    </dgm:pt>
    <dgm:pt modelId="{1D6DAEFB-768B-4820-9D3A-AB19368BCD57}" type="sibTrans" cxnId="{F9541080-4995-4A56-BCE9-319DD9604396}">
      <dgm:prSet/>
      <dgm:spPr/>
      <dgm:t>
        <a:bodyPr/>
        <a:lstStyle/>
        <a:p>
          <a:endParaRPr lang="LID4096"/>
        </a:p>
      </dgm:t>
    </dgm:pt>
    <dgm:pt modelId="{1B9150E6-A5EF-44FF-84FA-803716F51BCF}">
      <dgm:prSet/>
      <dgm:spPr/>
      <dgm:t>
        <a:bodyPr/>
        <a:lstStyle/>
        <a:p>
          <a:r>
            <a:rPr lang="en-GB" dirty="0" err="1">
              <a:latin typeface="Abadi" panose="020B0604020104020204" pitchFamily="34" charset="0"/>
            </a:rPr>
            <a:t>Volgende</a:t>
          </a:r>
          <a:r>
            <a:rPr lang="en-GB" dirty="0">
              <a:latin typeface="Abadi" panose="020B0604020104020204" pitchFamily="34" charset="0"/>
            </a:rPr>
            <a:t> 50%</a:t>
          </a:r>
          <a:endParaRPr lang="LID4096" dirty="0">
            <a:latin typeface="Abadi" panose="020B0604020104020204" pitchFamily="34" charset="0"/>
          </a:endParaRPr>
        </a:p>
      </dgm:t>
    </dgm:pt>
    <dgm:pt modelId="{C9BE347B-3B48-4294-A35B-4BC7955F2AE2}" type="parTrans" cxnId="{8196DE17-7E3B-46C4-ACEA-0B1D652640E1}">
      <dgm:prSet/>
      <dgm:spPr/>
      <dgm:t>
        <a:bodyPr/>
        <a:lstStyle/>
        <a:p>
          <a:endParaRPr lang="LID4096"/>
        </a:p>
      </dgm:t>
    </dgm:pt>
    <dgm:pt modelId="{5FD8EEA6-C11E-449F-BF96-8048ACD808EA}" type="sibTrans" cxnId="{8196DE17-7E3B-46C4-ACEA-0B1D652640E1}">
      <dgm:prSet/>
      <dgm:spPr/>
      <dgm:t>
        <a:bodyPr/>
        <a:lstStyle/>
        <a:p>
          <a:endParaRPr lang="LID4096"/>
        </a:p>
      </dgm:t>
    </dgm:pt>
    <dgm:pt modelId="{D220B5B6-88A2-4BDF-9C67-02170069BA02}">
      <dgm:prSet/>
      <dgm:spPr/>
      <dgm:t>
        <a:bodyPr/>
        <a:lstStyle/>
        <a:p>
          <a:r>
            <a:rPr lang="en-GB" dirty="0">
              <a:latin typeface="Abadi" panose="020B0604020104020204" pitchFamily="34" charset="0"/>
            </a:rPr>
            <a:t>Retrospective</a:t>
          </a:r>
          <a:endParaRPr lang="LID4096" dirty="0">
            <a:latin typeface="Abadi" panose="020B0604020104020204" pitchFamily="34" charset="0"/>
          </a:endParaRPr>
        </a:p>
      </dgm:t>
    </dgm:pt>
    <dgm:pt modelId="{C46485CA-4EFC-43E5-B9E9-B68D7039AFE4}" type="parTrans" cxnId="{8626EC39-6B76-480F-89C6-2629594EC389}">
      <dgm:prSet/>
      <dgm:spPr/>
      <dgm:t>
        <a:bodyPr/>
        <a:lstStyle/>
        <a:p>
          <a:endParaRPr lang="LID4096"/>
        </a:p>
      </dgm:t>
    </dgm:pt>
    <dgm:pt modelId="{F16B8991-C86A-4D35-8AF0-171770B4CD7F}" type="sibTrans" cxnId="{8626EC39-6B76-480F-89C6-2629594EC389}">
      <dgm:prSet/>
      <dgm:spPr/>
      <dgm:t>
        <a:bodyPr/>
        <a:lstStyle/>
        <a:p>
          <a:endParaRPr lang="LID4096"/>
        </a:p>
      </dgm:t>
    </dgm:pt>
    <dgm:pt modelId="{A0E47E9F-2E15-6A43-8660-7AE15DEB20D1}" type="pres">
      <dgm:prSet presAssocID="{4ADD5736-C171-AA4B-9366-B3CBD1A76692}" presName="Name0" presStyleCnt="0">
        <dgm:presLayoutVars>
          <dgm:chMax val="7"/>
          <dgm:chPref val="7"/>
          <dgm:dir/>
        </dgm:presLayoutVars>
      </dgm:prSet>
      <dgm:spPr/>
    </dgm:pt>
    <dgm:pt modelId="{A77538E6-5F95-5745-BA2A-7EDBAC579493}" type="pres">
      <dgm:prSet presAssocID="{4ADD5736-C171-AA4B-9366-B3CBD1A76692}" presName="Name1" presStyleCnt="0"/>
      <dgm:spPr/>
    </dgm:pt>
    <dgm:pt modelId="{4BE16C2A-AC77-B541-A70B-E772E558E9B9}" type="pres">
      <dgm:prSet presAssocID="{4ADD5736-C171-AA4B-9366-B3CBD1A76692}" presName="cycle" presStyleCnt="0"/>
      <dgm:spPr/>
    </dgm:pt>
    <dgm:pt modelId="{DE3B56BB-0B9B-D04B-9EC0-11F4E00296E5}" type="pres">
      <dgm:prSet presAssocID="{4ADD5736-C171-AA4B-9366-B3CBD1A76692}" presName="srcNode" presStyleLbl="node1" presStyleIdx="0" presStyleCnt="6"/>
      <dgm:spPr/>
    </dgm:pt>
    <dgm:pt modelId="{35644209-90A7-A149-AC5D-AD1B43F10545}" type="pres">
      <dgm:prSet presAssocID="{4ADD5736-C171-AA4B-9366-B3CBD1A76692}" presName="conn" presStyleLbl="parChTrans1D2" presStyleIdx="0" presStyleCnt="1"/>
      <dgm:spPr/>
    </dgm:pt>
    <dgm:pt modelId="{54810652-168F-A34B-AE92-723995579DFA}" type="pres">
      <dgm:prSet presAssocID="{4ADD5736-C171-AA4B-9366-B3CBD1A76692}" presName="extraNode" presStyleLbl="node1" presStyleIdx="0" presStyleCnt="6"/>
      <dgm:spPr/>
    </dgm:pt>
    <dgm:pt modelId="{430FE249-E9CA-BA47-A40B-40F39953F968}" type="pres">
      <dgm:prSet presAssocID="{4ADD5736-C171-AA4B-9366-B3CBD1A76692}" presName="dstNode" presStyleLbl="node1" presStyleIdx="0" presStyleCnt="6"/>
      <dgm:spPr/>
    </dgm:pt>
    <dgm:pt modelId="{78F3A55E-8D50-4D2E-9030-E9A471AD7BCC}" type="pres">
      <dgm:prSet presAssocID="{1387673C-B790-4E90-92EE-B8CA4DB60C60}" presName="text_1" presStyleLbl="node1" presStyleIdx="0" presStyleCnt="6">
        <dgm:presLayoutVars>
          <dgm:bulletEnabled val="1"/>
        </dgm:presLayoutVars>
      </dgm:prSet>
      <dgm:spPr/>
    </dgm:pt>
    <dgm:pt modelId="{B3F157B3-3C94-4987-9FF9-E8CAEFBAC80A}" type="pres">
      <dgm:prSet presAssocID="{1387673C-B790-4E90-92EE-B8CA4DB60C60}" presName="accent_1" presStyleCnt="0"/>
      <dgm:spPr/>
    </dgm:pt>
    <dgm:pt modelId="{3975B2E5-F814-4DA0-9CCF-48F7EDFC4F35}" type="pres">
      <dgm:prSet presAssocID="{1387673C-B790-4E90-92EE-B8CA4DB60C60}" presName="accentRepeatNode" presStyleLbl="solidFgAcc1" presStyleIdx="0" presStyleCnt="6"/>
      <dgm:spPr/>
    </dgm:pt>
    <dgm:pt modelId="{AA49213B-C83C-4C29-929E-32202979B705}" type="pres">
      <dgm:prSet presAssocID="{EE59E2F3-4081-41D0-8190-3348BBCF3A5A}" presName="text_2" presStyleLbl="node1" presStyleIdx="1" presStyleCnt="6">
        <dgm:presLayoutVars>
          <dgm:bulletEnabled val="1"/>
        </dgm:presLayoutVars>
      </dgm:prSet>
      <dgm:spPr/>
    </dgm:pt>
    <dgm:pt modelId="{C9ECD6D7-6714-43F8-9559-836E02F67A11}" type="pres">
      <dgm:prSet presAssocID="{EE59E2F3-4081-41D0-8190-3348BBCF3A5A}" presName="accent_2" presStyleCnt="0"/>
      <dgm:spPr/>
    </dgm:pt>
    <dgm:pt modelId="{F33D061D-BC1D-461F-A8F8-F7F4AD46302F}" type="pres">
      <dgm:prSet presAssocID="{EE59E2F3-4081-41D0-8190-3348BBCF3A5A}" presName="accentRepeatNode" presStyleLbl="solidFgAcc1" presStyleIdx="1" presStyleCnt="6"/>
      <dgm:spPr/>
    </dgm:pt>
    <dgm:pt modelId="{DB93909A-4C96-4154-AD5E-D016368529FD}" type="pres">
      <dgm:prSet presAssocID="{8AEE7D92-A117-49C7-B150-827D13A5E366}" presName="text_3" presStyleLbl="node1" presStyleIdx="2" presStyleCnt="6">
        <dgm:presLayoutVars>
          <dgm:bulletEnabled val="1"/>
        </dgm:presLayoutVars>
      </dgm:prSet>
      <dgm:spPr/>
    </dgm:pt>
    <dgm:pt modelId="{9324BD09-2F8D-425B-A951-636D7C70B77A}" type="pres">
      <dgm:prSet presAssocID="{8AEE7D92-A117-49C7-B150-827D13A5E366}" presName="accent_3" presStyleCnt="0"/>
      <dgm:spPr/>
    </dgm:pt>
    <dgm:pt modelId="{86052F4B-1D64-41AB-ACED-7594E73FB5C5}" type="pres">
      <dgm:prSet presAssocID="{8AEE7D92-A117-49C7-B150-827D13A5E366}" presName="accentRepeatNode" presStyleLbl="solidFgAcc1" presStyleIdx="2" presStyleCnt="6"/>
      <dgm:spPr/>
    </dgm:pt>
    <dgm:pt modelId="{3020E1DE-B307-40C1-BA88-7F99EF3DCACE}" type="pres">
      <dgm:prSet presAssocID="{39794703-9041-5C41-BE55-5A8208B02B05}" presName="text_4" presStyleLbl="node1" presStyleIdx="3" presStyleCnt="6">
        <dgm:presLayoutVars>
          <dgm:bulletEnabled val="1"/>
        </dgm:presLayoutVars>
      </dgm:prSet>
      <dgm:spPr/>
    </dgm:pt>
    <dgm:pt modelId="{6699F1EF-56F6-4D48-BAB8-11858BC63205}" type="pres">
      <dgm:prSet presAssocID="{39794703-9041-5C41-BE55-5A8208B02B05}" presName="accent_4" presStyleCnt="0"/>
      <dgm:spPr/>
    </dgm:pt>
    <dgm:pt modelId="{9502B663-0E15-C741-A845-6441C8C5C948}" type="pres">
      <dgm:prSet presAssocID="{39794703-9041-5C41-BE55-5A8208B02B05}" presName="accentRepeatNode" presStyleLbl="solidFgAcc1" presStyleIdx="3" presStyleCnt="6"/>
      <dgm:spPr/>
    </dgm:pt>
    <dgm:pt modelId="{975D1ED4-1C2B-4F8B-9595-EB12FBE521CB}" type="pres">
      <dgm:prSet presAssocID="{1B9150E6-A5EF-44FF-84FA-803716F51BCF}" presName="text_5" presStyleLbl="node1" presStyleIdx="4" presStyleCnt="6">
        <dgm:presLayoutVars>
          <dgm:bulletEnabled val="1"/>
        </dgm:presLayoutVars>
      </dgm:prSet>
      <dgm:spPr/>
    </dgm:pt>
    <dgm:pt modelId="{49C25246-1C9E-41CC-8846-33367D5AC85F}" type="pres">
      <dgm:prSet presAssocID="{1B9150E6-A5EF-44FF-84FA-803716F51BCF}" presName="accent_5" presStyleCnt="0"/>
      <dgm:spPr/>
    </dgm:pt>
    <dgm:pt modelId="{5BDC002A-1A3F-4F05-8EF1-BF70150CF989}" type="pres">
      <dgm:prSet presAssocID="{1B9150E6-A5EF-44FF-84FA-803716F51BCF}" presName="accentRepeatNode" presStyleLbl="solidFgAcc1" presStyleIdx="4" presStyleCnt="6"/>
      <dgm:spPr/>
    </dgm:pt>
    <dgm:pt modelId="{823C2FAC-061C-48A4-9ED6-CFE331AAAF93}" type="pres">
      <dgm:prSet presAssocID="{D220B5B6-88A2-4BDF-9C67-02170069BA02}" presName="text_6" presStyleLbl="node1" presStyleIdx="5" presStyleCnt="6">
        <dgm:presLayoutVars>
          <dgm:bulletEnabled val="1"/>
        </dgm:presLayoutVars>
      </dgm:prSet>
      <dgm:spPr/>
    </dgm:pt>
    <dgm:pt modelId="{9BE9762C-A3AE-4D03-89DF-F8E31BD3A983}" type="pres">
      <dgm:prSet presAssocID="{D220B5B6-88A2-4BDF-9C67-02170069BA02}" presName="accent_6" presStyleCnt="0"/>
      <dgm:spPr/>
    </dgm:pt>
    <dgm:pt modelId="{50A602EF-5C27-4441-A32E-E6C2314BCF35}" type="pres">
      <dgm:prSet presAssocID="{D220B5B6-88A2-4BDF-9C67-02170069BA02}" presName="accentRepeatNode" presStyleLbl="solidFgAcc1" presStyleIdx="5" presStyleCnt="6"/>
      <dgm:spPr/>
    </dgm:pt>
  </dgm:ptLst>
  <dgm:cxnLst>
    <dgm:cxn modelId="{70D38E0C-4F73-4360-8196-0A7A3DC704AB}" srcId="{4ADD5736-C171-AA4B-9366-B3CBD1A76692}" destId="{EE59E2F3-4081-41D0-8190-3348BBCF3A5A}" srcOrd="1" destOrd="0" parTransId="{282807B3-4CC8-4E19-8254-2A4C4887DBBE}" sibTransId="{F111041C-BD3E-49AB-ACA9-BD246553A042}"/>
    <dgm:cxn modelId="{8196DE17-7E3B-46C4-ACEA-0B1D652640E1}" srcId="{4ADD5736-C171-AA4B-9366-B3CBD1A76692}" destId="{1B9150E6-A5EF-44FF-84FA-803716F51BCF}" srcOrd="4" destOrd="0" parTransId="{C9BE347B-3B48-4294-A35B-4BC7955F2AE2}" sibTransId="{5FD8EEA6-C11E-449F-BF96-8048ACD808EA}"/>
    <dgm:cxn modelId="{B7723219-96C0-48F6-BCB8-FA9BEA9A42C1}" type="presOf" srcId="{8AEE7D92-A117-49C7-B150-827D13A5E366}" destId="{DB93909A-4C96-4154-AD5E-D016368529FD}" srcOrd="0" destOrd="0" presId="urn:microsoft.com/office/officeart/2008/layout/VerticalCurvedList"/>
    <dgm:cxn modelId="{29F62E1F-D87C-4051-965A-E6E10AED908B}" type="presOf" srcId="{39794703-9041-5C41-BE55-5A8208B02B05}" destId="{3020E1DE-B307-40C1-BA88-7F99EF3DCACE}" srcOrd="0" destOrd="0" presId="urn:microsoft.com/office/officeart/2008/layout/VerticalCurvedList"/>
    <dgm:cxn modelId="{8626EC39-6B76-480F-89C6-2629594EC389}" srcId="{4ADD5736-C171-AA4B-9366-B3CBD1A76692}" destId="{D220B5B6-88A2-4BDF-9C67-02170069BA02}" srcOrd="5" destOrd="0" parTransId="{C46485CA-4EFC-43E5-B9E9-B68D7039AFE4}" sibTransId="{F16B8991-C86A-4D35-8AF0-171770B4CD7F}"/>
    <dgm:cxn modelId="{54932178-7FCB-4116-A6DD-D8B1A814BC59}" type="presOf" srcId="{1387673C-B790-4E90-92EE-B8CA4DB60C60}" destId="{78F3A55E-8D50-4D2E-9030-E9A471AD7BCC}" srcOrd="0" destOrd="0" presId="urn:microsoft.com/office/officeart/2008/layout/VerticalCurvedList"/>
    <dgm:cxn modelId="{F9541080-4995-4A56-BCE9-319DD9604396}" srcId="{4ADD5736-C171-AA4B-9366-B3CBD1A76692}" destId="{8AEE7D92-A117-49C7-B150-827D13A5E366}" srcOrd="2" destOrd="0" parTransId="{1A4C6871-B7B6-4A8E-B0D1-B3B2F2AEF4AE}" sibTransId="{1D6DAEFB-768B-4820-9D3A-AB19368BCD57}"/>
    <dgm:cxn modelId="{4D3DAC85-493F-47F8-812C-FBEAC3296F65}" type="presOf" srcId="{9AB7E4AE-B567-4E04-82C4-F14042F19143}" destId="{35644209-90A7-A149-AC5D-AD1B43F10545}" srcOrd="0" destOrd="0" presId="urn:microsoft.com/office/officeart/2008/layout/VerticalCurvedList"/>
    <dgm:cxn modelId="{8CEA7B94-EC41-4ABC-B145-C83CC7C6CB87}" type="presOf" srcId="{EE59E2F3-4081-41D0-8190-3348BBCF3A5A}" destId="{AA49213B-C83C-4C29-929E-32202979B705}" srcOrd="0" destOrd="0" presId="urn:microsoft.com/office/officeart/2008/layout/VerticalCurvedList"/>
    <dgm:cxn modelId="{C893D9BF-9913-F94E-9505-4917338A88A8}" type="presOf" srcId="{4ADD5736-C171-AA4B-9366-B3CBD1A76692}" destId="{A0E47E9F-2E15-6A43-8660-7AE15DEB20D1}" srcOrd="0" destOrd="0" presId="urn:microsoft.com/office/officeart/2008/layout/VerticalCurvedList"/>
    <dgm:cxn modelId="{66A2E2D6-92B3-4FFD-95BC-51A844104606}" srcId="{4ADD5736-C171-AA4B-9366-B3CBD1A76692}" destId="{1387673C-B790-4E90-92EE-B8CA4DB60C60}" srcOrd="0" destOrd="0" parTransId="{94457391-D3C9-48F8-8493-D4E9586DA8A8}" sibTransId="{9AB7E4AE-B567-4E04-82C4-F14042F19143}"/>
    <dgm:cxn modelId="{875EEEEC-A27E-4079-BF1A-0214A36FF5DA}" type="presOf" srcId="{D220B5B6-88A2-4BDF-9C67-02170069BA02}" destId="{823C2FAC-061C-48A4-9ED6-CFE331AAAF93}" srcOrd="0" destOrd="0" presId="urn:microsoft.com/office/officeart/2008/layout/VerticalCurvedList"/>
    <dgm:cxn modelId="{520585ED-81C0-6642-B06F-5B2A702E4BF3}" srcId="{4ADD5736-C171-AA4B-9366-B3CBD1A76692}" destId="{39794703-9041-5C41-BE55-5A8208B02B05}" srcOrd="3" destOrd="0" parTransId="{75D2434B-4B12-774D-A434-1376C706E00B}" sibTransId="{3C1A5732-3905-F945-A921-D021C75DC541}"/>
    <dgm:cxn modelId="{8080F0FF-23AF-404F-A1DF-FD2714F0A82C}" type="presOf" srcId="{1B9150E6-A5EF-44FF-84FA-803716F51BCF}" destId="{975D1ED4-1C2B-4F8B-9595-EB12FBE521CB}" srcOrd="0" destOrd="0" presId="urn:microsoft.com/office/officeart/2008/layout/VerticalCurvedList"/>
    <dgm:cxn modelId="{8924ACE4-502C-F944-B4AA-BEE3D54D55EE}" type="presParOf" srcId="{A0E47E9F-2E15-6A43-8660-7AE15DEB20D1}" destId="{A77538E6-5F95-5745-BA2A-7EDBAC579493}" srcOrd="0" destOrd="0" presId="urn:microsoft.com/office/officeart/2008/layout/VerticalCurvedList"/>
    <dgm:cxn modelId="{9239ADFF-CEEC-6641-A89B-D448801282BE}" type="presParOf" srcId="{A77538E6-5F95-5745-BA2A-7EDBAC579493}" destId="{4BE16C2A-AC77-B541-A70B-E772E558E9B9}" srcOrd="0" destOrd="0" presId="urn:microsoft.com/office/officeart/2008/layout/VerticalCurvedList"/>
    <dgm:cxn modelId="{FF4C7698-064A-6F42-8992-1C96BB2EDBD5}" type="presParOf" srcId="{4BE16C2A-AC77-B541-A70B-E772E558E9B9}" destId="{DE3B56BB-0B9B-D04B-9EC0-11F4E00296E5}" srcOrd="0" destOrd="0" presId="urn:microsoft.com/office/officeart/2008/layout/VerticalCurvedList"/>
    <dgm:cxn modelId="{F0EA7D8A-19FB-5742-9B27-F2A418F5C75A}" type="presParOf" srcId="{4BE16C2A-AC77-B541-A70B-E772E558E9B9}" destId="{35644209-90A7-A149-AC5D-AD1B43F10545}" srcOrd="1" destOrd="0" presId="urn:microsoft.com/office/officeart/2008/layout/VerticalCurvedList"/>
    <dgm:cxn modelId="{674DE678-18FA-E44E-A6F6-3FD492F99260}" type="presParOf" srcId="{4BE16C2A-AC77-B541-A70B-E772E558E9B9}" destId="{54810652-168F-A34B-AE92-723995579DFA}" srcOrd="2" destOrd="0" presId="urn:microsoft.com/office/officeart/2008/layout/VerticalCurvedList"/>
    <dgm:cxn modelId="{C2715512-D9AA-2E49-9FF8-AC8F41B6527C}" type="presParOf" srcId="{4BE16C2A-AC77-B541-A70B-E772E558E9B9}" destId="{430FE249-E9CA-BA47-A40B-40F39953F968}" srcOrd="3" destOrd="0" presId="urn:microsoft.com/office/officeart/2008/layout/VerticalCurvedList"/>
    <dgm:cxn modelId="{7F18B29B-2698-4D3F-97FD-4E1E09C583D8}" type="presParOf" srcId="{A77538E6-5F95-5745-BA2A-7EDBAC579493}" destId="{78F3A55E-8D50-4D2E-9030-E9A471AD7BCC}" srcOrd="1" destOrd="0" presId="urn:microsoft.com/office/officeart/2008/layout/VerticalCurvedList"/>
    <dgm:cxn modelId="{8AD8675F-AB62-415F-AD9C-F782E24747D6}" type="presParOf" srcId="{A77538E6-5F95-5745-BA2A-7EDBAC579493}" destId="{B3F157B3-3C94-4987-9FF9-E8CAEFBAC80A}" srcOrd="2" destOrd="0" presId="urn:microsoft.com/office/officeart/2008/layout/VerticalCurvedList"/>
    <dgm:cxn modelId="{500E74FD-8630-47E2-B5EA-FC9BA191BF76}" type="presParOf" srcId="{B3F157B3-3C94-4987-9FF9-E8CAEFBAC80A}" destId="{3975B2E5-F814-4DA0-9CCF-48F7EDFC4F35}" srcOrd="0" destOrd="0" presId="urn:microsoft.com/office/officeart/2008/layout/VerticalCurvedList"/>
    <dgm:cxn modelId="{8E38A035-4462-4754-9579-91F8CB50C206}" type="presParOf" srcId="{A77538E6-5F95-5745-BA2A-7EDBAC579493}" destId="{AA49213B-C83C-4C29-929E-32202979B705}" srcOrd="3" destOrd="0" presId="urn:microsoft.com/office/officeart/2008/layout/VerticalCurvedList"/>
    <dgm:cxn modelId="{C709D14E-30EF-41E0-A9D7-AFD3223C3A45}" type="presParOf" srcId="{A77538E6-5F95-5745-BA2A-7EDBAC579493}" destId="{C9ECD6D7-6714-43F8-9559-836E02F67A11}" srcOrd="4" destOrd="0" presId="urn:microsoft.com/office/officeart/2008/layout/VerticalCurvedList"/>
    <dgm:cxn modelId="{64885890-A847-4FA0-8A2D-355506C92327}" type="presParOf" srcId="{C9ECD6D7-6714-43F8-9559-836E02F67A11}" destId="{F33D061D-BC1D-461F-A8F8-F7F4AD46302F}" srcOrd="0" destOrd="0" presId="urn:microsoft.com/office/officeart/2008/layout/VerticalCurvedList"/>
    <dgm:cxn modelId="{301E68F1-E4F9-4361-9C3D-C82BF4F9032E}" type="presParOf" srcId="{A77538E6-5F95-5745-BA2A-7EDBAC579493}" destId="{DB93909A-4C96-4154-AD5E-D016368529FD}" srcOrd="5" destOrd="0" presId="urn:microsoft.com/office/officeart/2008/layout/VerticalCurvedList"/>
    <dgm:cxn modelId="{F7F4BE47-7D54-432F-830B-CE38097D23BE}" type="presParOf" srcId="{A77538E6-5F95-5745-BA2A-7EDBAC579493}" destId="{9324BD09-2F8D-425B-A951-636D7C70B77A}" srcOrd="6" destOrd="0" presId="urn:microsoft.com/office/officeart/2008/layout/VerticalCurvedList"/>
    <dgm:cxn modelId="{7B08FCB4-DA67-4677-8C26-A7AF5C4357C1}" type="presParOf" srcId="{9324BD09-2F8D-425B-A951-636D7C70B77A}" destId="{86052F4B-1D64-41AB-ACED-7594E73FB5C5}" srcOrd="0" destOrd="0" presId="urn:microsoft.com/office/officeart/2008/layout/VerticalCurvedList"/>
    <dgm:cxn modelId="{9545B661-F9CB-4B56-987B-C6B00BAAA640}" type="presParOf" srcId="{A77538E6-5F95-5745-BA2A-7EDBAC579493}" destId="{3020E1DE-B307-40C1-BA88-7F99EF3DCACE}" srcOrd="7" destOrd="0" presId="urn:microsoft.com/office/officeart/2008/layout/VerticalCurvedList"/>
    <dgm:cxn modelId="{66A17695-A01A-4BF4-B9BA-BD1F44B414F3}" type="presParOf" srcId="{A77538E6-5F95-5745-BA2A-7EDBAC579493}" destId="{6699F1EF-56F6-4D48-BAB8-11858BC63205}" srcOrd="8" destOrd="0" presId="urn:microsoft.com/office/officeart/2008/layout/VerticalCurvedList"/>
    <dgm:cxn modelId="{87B00799-DAC3-41D3-A9C8-A02C17C7D95F}" type="presParOf" srcId="{6699F1EF-56F6-4D48-BAB8-11858BC63205}" destId="{9502B663-0E15-C741-A845-6441C8C5C948}" srcOrd="0" destOrd="0" presId="urn:microsoft.com/office/officeart/2008/layout/VerticalCurvedList"/>
    <dgm:cxn modelId="{7F30C640-31FC-48F3-BFFC-ADA51F2DF7C0}" type="presParOf" srcId="{A77538E6-5F95-5745-BA2A-7EDBAC579493}" destId="{975D1ED4-1C2B-4F8B-9595-EB12FBE521CB}" srcOrd="9" destOrd="0" presId="urn:microsoft.com/office/officeart/2008/layout/VerticalCurvedList"/>
    <dgm:cxn modelId="{74C03CB7-4BAA-4FAC-BDCE-4604EBB908DA}" type="presParOf" srcId="{A77538E6-5F95-5745-BA2A-7EDBAC579493}" destId="{49C25246-1C9E-41CC-8846-33367D5AC85F}" srcOrd="10" destOrd="0" presId="urn:microsoft.com/office/officeart/2008/layout/VerticalCurvedList"/>
    <dgm:cxn modelId="{5DE60CA6-A066-4834-BF9A-D98DDB624628}" type="presParOf" srcId="{49C25246-1C9E-41CC-8846-33367D5AC85F}" destId="{5BDC002A-1A3F-4F05-8EF1-BF70150CF989}" srcOrd="0" destOrd="0" presId="urn:microsoft.com/office/officeart/2008/layout/VerticalCurvedList"/>
    <dgm:cxn modelId="{510E4A0A-FB36-4525-B921-8137BFCE3750}" type="presParOf" srcId="{A77538E6-5F95-5745-BA2A-7EDBAC579493}" destId="{823C2FAC-061C-48A4-9ED6-CFE331AAAF93}" srcOrd="11" destOrd="0" presId="urn:microsoft.com/office/officeart/2008/layout/VerticalCurvedList"/>
    <dgm:cxn modelId="{874914F3-D4DA-4C4F-856D-C818A8AAA039}" type="presParOf" srcId="{A77538E6-5F95-5745-BA2A-7EDBAC579493}" destId="{9BE9762C-A3AE-4D03-89DF-F8E31BD3A983}" srcOrd="12" destOrd="0" presId="urn:microsoft.com/office/officeart/2008/layout/VerticalCurvedList"/>
    <dgm:cxn modelId="{6C6A1463-B632-4AD5-8379-A3E4084D9F9C}" type="presParOf" srcId="{9BE9762C-A3AE-4D03-89DF-F8E31BD3A983}" destId="{50A602EF-5C27-4441-A32E-E6C2314BCF3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44209-90A7-A149-AC5D-AD1B43F10545}">
      <dsp:nvSpPr>
        <dsp:cNvPr id="0" name=""/>
        <dsp:cNvSpPr/>
      </dsp:nvSpPr>
      <dsp:spPr>
        <a:xfrm>
          <a:off x="-5427711" y="-831103"/>
          <a:ext cx="6462806" cy="6462806"/>
        </a:xfrm>
        <a:prstGeom prst="blockArc">
          <a:avLst>
            <a:gd name="adj1" fmla="val 18900000"/>
            <a:gd name="adj2" fmla="val 2700000"/>
            <a:gd name="adj3" fmla="val 334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F3A55E-8D50-4D2E-9030-E9A471AD7BCC}">
      <dsp:nvSpPr>
        <dsp:cNvPr id="0" name=""/>
        <dsp:cNvSpPr/>
      </dsp:nvSpPr>
      <dsp:spPr>
        <a:xfrm>
          <a:off x="385876" y="252799"/>
          <a:ext cx="9102339" cy="505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167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900" kern="1200" dirty="0">
              <a:solidFill>
                <a:schemeClr val="bg2"/>
              </a:solidFill>
              <a:latin typeface="Abadi" panose="020B0604020104020204" pitchFamily="34" charset="0"/>
            </a:rPr>
            <a:t>Context </a:t>
          </a:r>
        </a:p>
      </dsp:txBody>
      <dsp:txXfrm>
        <a:off x="385876" y="252799"/>
        <a:ext cx="9102339" cy="505407"/>
      </dsp:txXfrm>
    </dsp:sp>
    <dsp:sp modelId="{3975B2E5-F814-4DA0-9CCF-48F7EDFC4F35}">
      <dsp:nvSpPr>
        <dsp:cNvPr id="0" name=""/>
        <dsp:cNvSpPr/>
      </dsp:nvSpPr>
      <dsp:spPr>
        <a:xfrm>
          <a:off x="69996" y="189623"/>
          <a:ext cx="631758" cy="6317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49213B-C83C-4C29-929E-32202979B705}">
      <dsp:nvSpPr>
        <dsp:cNvPr id="0" name=""/>
        <dsp:cNvSpPr/>
      </dsp:nvSpPr>
      <dsp:spPr>
        <a:xfrm>
          <a:off x="801608" y="1010814"/>
          <a:ext cx="8686607" cy="505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167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latin typeface="Abadi" panose="020B0604020104020204" pitchFamily="34" charset="0"/>
            </a:rPr>
            <a:t>Het </a:t>
          </a:r>
          <a:r>
            <a:rPr lang="en-GB" sz="2900" kern="1200" dirty="0" err="1">
              <a:latin typeface="Abadi" panose="020B0604020104020204" pitchFamily="34" charset="0"/>
            </a:rPr>
            <a:t>probleem</a:t>
          </a:r>
          <a:endParaRPr lang="en-GB" sz="2900" kern="1200" dirty="0">
            <a:latin typeface="Abadi" panose="020B0604020104020204" pitchFamily="34" charset="0"/>
          </a:endParaRPr>
        </a:p>
      </dsp:txBody>
      <dsp:txXfrm>
        <a:off x="801608" y="1010814"/>
        <a:ext cx="8686607" cy="505407"/>
      </dsp:txXfrm>
    </dsp:sp>
    <dsp:sp modelId="{F33D061D-BC1D-461F-A8F8-F7F4AD46302F}">
      <dsp:nvSpPr>
        <dsp:cNvPr id="0" name=""/>
        <dsp:cNvSpPr/>
      </dsp:nvSpPr>
      <dsp:spPr>
        <a:xfrm>
          <a:off x="485728" y="947638"/>
          <a:ext cx="631758" cy="6317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3909A-4C96-4154-AD5E-D016368529FD}">
      <dsp:nvSpPr>
        <dsp:cNvPr id="0" name=""/>
        <dsp:cNvSpPr/>
      </dsp:nvSpPr>
      <dsp:spPr>
        <a:xfrm>
          <a:off x="991711" y="1768829"/>
          <a:ext cx="8496503" cy="505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167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latin typeface="Abadi" panose="020B0604020104020204" pitchFamily="34" charset="0"/>
            </a:rPr>
            <a:t>De </a:t>
          </a:r>
          <a:r>
            <a:rPr lang="en-GB" sz="2900" kern="1200" dirty="0" err="1">
              <a:latin typeface="Abadi" panose="020B0604020104020204" pitchFamily="34" charset="0"/>
            </a:rPr>
            <a:t>Oplossing</a:t>
          </a:r>
          <a:endParaRPr lang="LID4096" sz="2900" kern="1200" dirty="0">
            <a:latin typeface="Abadi" panose="020B0604020104020204" pitchFamily="34" charset="0"/>
          </a:endParaRPr>
        </a:p>
      </dsp:txBody>
      <dsp:txXfrm>
        <a:off x="991711" y="1768829"/>
        <a:ext cx="8496503" cy="505407"/>
      </dsp:txXfrm>
    </dsp:sp>
    <dsp:sp modelId="{86052F4B-1D64-41AB-ACED-7594E73FB5C5}">
      <dsp:nvSpPr>
        <dsp:cNvPr id="0" name=""/>
        <dsp:cNvSpPr/>
      </dsp:nvSpPr>
      <dsp:spPr>
        <a:xfrm>
          <a:off x="675832" y="1705653"/>
          <a:ext cx="631758" cy="6317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0E1DE-B307-40C1-BA88-7F99EF3DCACE}">
      <dsp:nvSpPr>
        <dsp:cNvPr id="0" name=""/>
        <dsp:cNvSpPr/>
      </dsp:nvSpPr>
      <dsp:spPr>
        <a:xfrm>
          <a:off x="991711" y="2526363"/>
          <a:ext cx="8496503" cy="505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167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900" kern="1200" dirty="0">
              <a:solidFill>
                <a:schemeClr val="bg2"/>
              </a:solidFill>
              <a:latin typeface="Abadi" panose="020B0604020104020204" pitchFamily="34" charset="0"/>
            </a:rPr>
            <a:t>Demo</a:t>
          </a:r>
        </a:p>
      </dsp:txBody>
      <dsp:txXfrm>
        <a:off x="991711" y="2526363"/>
        <a:ext cx="8496503" cy="505407"/>
      </dsp:txXfrm>
    </dsp:sp>
    <dsp:sp modelId="{9502B663-0E15-C741-A845-6441C8C5C948}">
      <dsp:nvSpPr>
        <dsp:cNvPr id="0" name=""/>
        <dsp:cNvSpPr/>
      </dsp:nvSpPr>
      <dsp:spPr>
        <a:xfrm>
          <a:off x="675832" y="2463187"/>
          <a:ext cx="631758" cy="6317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D1ED4-1C2B-4F8B-9595-EB12FBE521CB}">
      <dsp:nvSpPr>
        <dsp:cNvPr id="0" name=""/>
        <dsp:cNvSpPr/>
      </dsp:nvSpPr>
      <dsp:spPr>
        <a:xfrm>
          <a:off x="801608" y="3284378"/>
          <a:ext cx="8686607" cy="505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167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>
              <a:latin typeface="Abadi" panose="020B0604020104020204" pitchFamily="34" charset="0"/>
            </a:rPr>
            <a:t>Volgende</a:t>
          </a:r>
          <a:r>
            <a:rPr lang="en-GB" sz="2900" kern="1200" dirty="0">
              <a:latin typeface="Abadi" panose="020B0604020104020204" pitchFamily="34" charset="0"/>
            </a:rPr>
            <a:t> 50%</a:t>
          </a:r>
          <a:endParaRPr lang="LID4096" sz="2900" kern="1200" dirty="0">
            <a:latin typeface="Abadi" panose="020B0604020104020204" pitchFamily="34" charset="0"/>
          </a:endParaRPr>
        </a:p>
      </dsp:txBody>
      <dsp:txXfrm>
        <a:off x="801608" y="3284378"/>
        <a:ext cx="8686607" cy="505407"/>
      </dsp:txXfrm>
    </dsp:sp>
    <dsp:sp modelId="{5BDC002A-1A3F-4F05-8EF1-BF70150CF989}">
      <dsp:nvSpPr>
        <dsp:cNvPr id="0" name=""/>
        <dsp:cNvSpPr/>
      </dsp:nvSpPr>
      <dsp:spPr>
        <a:xfrm>
          <a:off x="485728" y="3221202"/>
          <a:ext cx="631758" cy="6317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C2FAC-061C-48A4-9ED6-CFE331AAAF93}">
      <dsp:nvSpPr>
        <dsp:cNvPr id="0" name=""/>
        <dsp:cNvSpPr/>
      </dsp:nvSpPr>
      <dsp:spPr>
        <a:xfrm>
          <a:off x="385876" y="4042393"/>
          <a:ext cx="9102339" cy="505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167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latin typeface="Abadi" panose="020B0604020104020204" pitchFamily="34" charset="0"/>
            </a:rPr>
            <a:t>Retrospective</a:t>
          </a:r>
          <a:endParaRPr lang="LID4096" sz="2900" kern="1200" dirty="0">
            <a:latin typeface="Abadi" panose="020B0604020104020204" pitchFamily="34" charset="0"/>
          </a:endParaRPr>
        </a:p>
      </dsp:txBody>
      <dsp:txXfrm>
        <a:off x="385876" y="4042393"/>
        <a:ext cx="9102339" cy="505407"/>
      </dsp:txXfrm>
    </dsp:sp>
    <dsp:sp modelId="{50A602EF-5C27-4441-A32E-E6C2314BCF35}">
      <dsp:nvSpPr>
        <dsp:cNvPr id="0" name=""/>
        <dsp:cNvSpPr/>
      </dsp:nvSpPr>
      <dsp:spPr>
        <a:xfrm>
          <a:off x="69996" y="3979217"/>
          <a:ext cx="631758" cy="6317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CCF49-AF44-4DCB-9905-D4ED6AC53EF8}" type="datetimeFigureOut">
              <a:t>2/1/2026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E92FB-8940-4F2A-AEFD-73BDAD14E75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684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Goedendag, docenten en medestudenten. Mijn naam is Derk, en de afgelopen tijd heb ik stagegelopen bij Bits en Bytes. Vandaag neem ik jullie mee in de eerste 50% van mijn project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79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Dus </a:t>
            </a:r>
            <a:r>
              <a:rPr lang="en-US" dirty="0" err="1">
                <a:ea typeface="Calibri"/>
                <a:cs typeface="Calibri"/>
              </a:rPr>
              <a:t>waar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gaan</a:t>
            </a:r>
            <a:r>
              <a:rPr lang="en-US" dirty="0">
                <a:ea typeface="Calibri"/>
                <a:cs typeface="Calibri"/>
              </a:rPr>
              <a:t> we het over </a:t>
            </a:r>
            <a:r>
              <a:rPr lang="en-US" dirty="0" err="1">
                <a:ea typeface="Calibri"/>
                <a:cs typeface="Calibri"/>
              </a:rPr>
              <a:t>hebben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Eerst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gaan</a:t>
            </a:r>
            <a:r>
              <a:rPr lang="en-US" dirty="0">
                <a:ea typeface="Calibri"/>
                <a:cs typeface="Calibri"/>
              </a:rPr>
              <a:t> we de context van </a:t>
            </a:r>
            <a:r>
              <a:rPr lang="en-US" dirty="0" err="1">
                <a:ea typeface="Calibri"/>
                <a:cs typeface="Calibri"/>
              </a:rPr>
              <a:t>ons</a:t>
            </a:r>
            <a:r>
              <a:rPr lang="en-US" dirty="0">
                <a:ea typeface="Calibri"/>
                <a:cs typeface="Calibri"/>
              </a:rPr>
              <a:t> project </a:t>
            </a:r>
            <a:r>
              <a:rPr lang="en-US" dirty="0" err="1">
                <a:ea typeface="Calibri"/>
                <a:cs typeface="Calibri"/>
              </a:rPr>
              <a:t>uitleggen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waarnaar</a:t>
            </a:r>
            <a:r>
              <a:rPr lang="en-US" dirty="0">
                <a:ea typeface="Calibri"/>
                <a:cs typeface="Calibri"/>
              </a:rPr>
              <a:t> het </a:t>
            </a:r>
            <a:r>
              <a:rPr lang="en-US" dirty="0" err="1">
                <a:ea typeface="Calibri"/>
                <a:cs typeface="Calibri"/>
              </a:rPr>
              <a:t>probleem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volgt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r>
              <a:rPr lang="en-US" dirty="0">
                <a:ea typeface="Calibri"/>
                <a:cs typeface="Calibri"/>
              </a:rPr>
              <a:t>Dan laten we </a:t>
            </a:r>
            <a:r>
              <a:rPr lang="en-US" dirty="0" err="1">
                <a:ea typeface="Calibri"/>
                <a:cs typeface="Calibri"/>
              </a:rPr>
              <a:t>ziet</a:t>
            </a:r>
            <a:r>
              <a:rPr lang="en-US" dirty="0">
                <a:ea typeface="Calibri"/>
                <a:cs typeface="Calibri"/>
              </a:rPr>
              <a:t> wat </a:t>
            </a:r>
            <a:r>
              <a:rPr lang="en-US" dirty="0" err="1">
                <a:ea typeface="Calibri"/>
                <a:cs typeface="Calibri"/>
              </a:rPr>
              <a:t>onze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oplossing</a:t>
            </a:r>
            <a:r>
              <a:rPr lang="en-US" dirty="0">
                <a:ea typeface="Calibri"/>
                <a:cs typeface="Calibri"/>
              </a:rPr>
              <a:t> is </a:t>
            </a:r>
            <a:r>
              <a:rPr lang="en-US" dirty="0" err="1">
                <a:ea typeface="Calibri"/>
                <a:cs typeface="Calibri"/>
              </a:rPr>
              <a:t>voor</a:t>
            </a:r>
            <a:r>
              <a:rPr lang="en-US" dirty="0">
                <a:ea typeface="Calibri"/>
                <a:cs typeface="Calibri"/>
              </a:rPr>
              <a:t> het project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wat </a:t>
            </a:r>
            <a:r>
              <a:rPr lang="en-US" dirty="0" err="1">
                <a:ea typeface="Calibri"/>
                <a:cs typeface="Calibri"/>
              </a:rPr>
              <a:t>wij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hieraan</a:t>
            </a:r>
            <a:r>
              <a:rPr lang="en-US" dirty="0">
                <a:ea typeface="Calibri"/>
                <a:cs typeface="Calibri"/>
              </a:rPr>
              <a:t> al </a:t>
            </a:r>
            <a:r>
              <a:rPr lang="en-US" dirty="0" err="1">
                <a:ea typeface="Calibri"/>
                <a:cs typeface="Calibri"/>
              </a:rPr>
              <a:t>gedaan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hebben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r>
              <a:rPr lang="en-US" dirty="0" err="1">
                <a:ea typeface="Calibri"/>
                <a:cs typeface="Calibri"/>
              </a:rPr>
              <a:t>Vervolgens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gaan</a:t>
            </a:r>
            <a:r>
              <a:rPr lang="en-US" dirty="0">
                <a:ea typeface="Calibri"/>
                <a:cs typeface="Calibri"/>
              </a:rPr>
              <a:t> we even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demostratie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geven</a:t>
            </a:r>
            <a:r>
              <a:rPr lang="en-US" dirty="0">
                <a:ea typeface="Calibri"/>
                <a:cs typeface="Calibri"/>
              </a:rPr>
              <a:t> van wat we </a:t>
            </a:r>
            <a:r>
              <a:rPr lang="en-US" dirty="0" err="1">
                <a:ea typeface="Calibri"/>
                <a:cs typeface="Calibri"/>
              </a:rPr>
              <a:t>hebben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Ten slot </a:t>
            </a:r>
            <a:r>
              <a:rPr lang="en-US" dirty="0" err="1">
                <a:ea typeface="Calibri"/>
                <a:cs typeface="Calibri"/>
              </a:rPr>
              <a:t>gaan</a:t>
            </a:r>
            <a:r>
              <a:rPr lang="en-US" dirty="0">
                <a:ea typeface="Calibri"/>
                <a:cs typeface="Calibri"/>
              </a:rPr>
              <a:t> we </a:t>
            </a:r>
            <a:r>
              <a:rPr lang="en-US" dirty="0" err="1">
                <a:ea typeface="Calibri"/>
                <a:cs typeface="Calibri"/>
              </a:rPr>
              <a:t>uitleggen</a:t>
            </a:r>
            <a:r>
              <a:rPr lang="en-US" dirty="0">
                <a:ea typeface="Calibri"/>
                <a:cs typeface="Calibri"/>
              </a:rPr>
              <a:t> wat er </a:t>
            </a:r>
            <a:r>
              <a:rPr lang="en-US" dirty="0" err="1">
                <a:ea typeface="Calibri"/>
                <a:cs typeface="Calibri"/>
              </a:rPr>
              <a:t>nog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doen</a:t>
            </a:r>
            <a:r>
              <a:rPr lang="en-US" dirty="0">
                <a:ea typeface="Calibri"/>
                <a:cs typeface="Calibri"/>
              </a:rPr>
              <a:t> is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wat </a:t>
            </a:r>
            <a:r>
              <a:rPr lang="en-US" dirty="0" err="1">
                <a:ea typeface="Calibri"/>
                <a:cs typeface="Calibri"/>
              </a:rPr>
              <a:t>onze</a:t>
            </a:r>
            <a:r>
              <a:rPr lang="en-US" dirty="0">
                <a:ea typeface="Calibri"/>
                <a:cs typeface="Calibri"/>
              </a:rPr>
              <a:t> planning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96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2CA8-7465-92E2-F0D1-E44E2110C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568AB-964C-7EEA-E6FD-B734B43E3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35CBC-5163-4678-5CC4-D97A2EC8B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 het bedrijf ben ik een embedded Systeem dev</a:t>
            </a:r>
          </a:p>
          <a:p>
            <a:r>
              <a:rPr lang="nl-NL" dirty="0"/>
              <a:t>Het is een IT werkplek waar clienten hun vaardigheden binnen de IT kunnen uitbreiden aan een breed scala van specializatie</a:t>
            </a:r>
          </a:p>
          <a:p>
            <a:br>
              <a:rPr lang="nl-NL" dirty="0"/>
            </a:br>
            <a:r>
              <a:rPr lang="nl-NL" dirty="0"/>
              <a:t>Het verdienmodel komt door door de aanwezigheid van Clienten. Zij zetten een handtekening als bewijs van hun aanwezigheid</a:t>
            </a:r>
          </a:p>
          <a:p>
            <a:r>
              <a:rPr lang="nl-NL" dirty="0"/>
              <a:t>Deze handtekening worden gebruikt in de facturering</a:t>
            </a:r>
          </a:p>
          <a:p>
            <a:endParaRPr lang="nl-NL" dirty="0"/>
          </a:p>
          <a:p>
            <a:r>
              <a:rPr lang="nl-NL" dirty="0"/>
              <a:t>Ik werk een al een jaar hier, ik ben goed geinteregeerd in het team, </a:t>
            </a:r>
            <a:br>
              <a:rPr lang="nl-NL" dirty="0"/>
            </a:b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E265F-11E3-3C3A-605D-3888839D2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1470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 administratieve werkdruk is momenteel extreem hoog. </a:t>
            </a:r>
          </a:p>
          <a:p>
            <a:endParaRPr lang="nl-NL" dirty="0"/>
          </a:p>
          <a:p>
            <a:r>
              <a:rPr lang="nl-NL" dirty="0"/>
              <a:t>Het proces van aanwezigheidsregistratie is totaal verouderd en foutgevoelig. Als op papier en met de hand. </a:t>
            </a:r>
          </a:p>
          <a:p>
            <a:endParaRPr lang="nl-NL" dirty="0"/>
          </a:p>
          <a:p>
            <a:r>
              <a:rPr lang="nl-NL" dirty="0"/>
              <a:t>Dit is de workflow nu: Deelnemers zetten een </a:t>
            </a:r>
            <a:r>
              <a:rPr lang="nl-NL" b="1" dirty="0"/>
              <a:t>handtekening op papier</a:t>
            </a:r>
            <a:r>
              <a:rPr lang="nl-NL" dirty="0"/>
              <a:t>. Vervolgens moeten deze formulieren </a:t>
            </a:r>
            <a:r>
              <a:rPr lang="nl-NL" b="1" dirty="0"/>
              <a:t>handmatig worden ingescand</a:t>
            </a:r>
            <a:r>
              <a:rPr lang="nl-NL" dirty="0"/>
              <a:t>. En tot slot moet de admin voor elke deelnemer de juiste handtekeningen in </a:t>
            </a:r>
            <a:r>
              <a:rPr lang="nl-NL" b="1" dirty="0"/>
              <a:t>aparte PDF-bestanden</a:t>
            </a:r>
            <a:r>
              <a:rPr lang="nl-NL" dirty="0"/>
              <a:t> ordenen </a:t>
            </a:r>
          </a:p>
          <a:p>
            <a:endParaRPr lang="nl-NL" dirty="0"/>
          </a:p>
          <a:p>
            <a:r>
              <a:rPr lang="nl-NL" dirty="0"/>
              <a:t>Dit kost de administratie wekelijks veel te veel </a:t>
            </a:r>
            <a:r>
              <a:rPr lang="nl-NL" b="1" dirty="0"/>
              <a:t>kostbare tijd</a:t>
            </a:r>
            <a:r>
              <a:rPr lang="nl-NL" dirty="0"/>
              <a:t> en leidt vaak tot vertragingen in het facturatieproces</a:t>
            </a:r>
            <a:br>
              <a:rPr lang="nl-NL" dirty="0"/>
            </a:br>
            <a:br>
              <a:rPr lang="nl-NL" dirty="0"/>
            </a:br>
            <a:r>
              <a:rPr lang="nl-NL" dirty="0"/>
              <a:t>ook nog is het fout gevoelig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44383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 </a:t>
            </a:r>
            <a:r>
              <a:rPr lang="en-GB" dirty="0" err="1"/>
              <a:t>oplossing</a:t>
            </a:r>
            <a:r>
              <a:rPr lang="en-GB" dirty="0"/>
              <a:t> </a:t>
            </a:r>
            <a:r>
              <a:rPr lang="en-GB" dirty="0" err="1"/>
              <a:t>hiervoor</a:t>
            </a:r>
            <a:r>
              <a:rPr lang="en-GB" dirty="0"/>
              <a:t> is </a:t>
            </a:r>
            <a:r>
              <a:rPr lang="en-GB" dirty="0" err="1"/>
              <a:t>een</a:t>
            </a:r>
            <a:r>
              <a:rPr lang="en-GB" dirty="0"/>
              <a:t> clock in </a:t>
            </a:r>
            <a:r>
              <a:rPr lang="en-GB" dirty="0" err="1"/>
              <a:t>systeem</a:t>
            </a:r>
            <a:r>
              <a:rPr lang="en-GB" dirty="0"/>
              <a:t>. Dat </a:t>
            </a:r>
            <a:r>
              <a:rPr lang="en-GB" dirty="0" err="1"/>
              <a:t>houd</a:t>
            </a:r>
            <a:r>
              <a:rPr lang="en-GB" dirty="0"/>
              <a:t> in </a:t>
            </a:r>
            <a:r>
              <a:rPr lang="en-GB" dirty="0" err="1"/>
              <a:t>dat</a:t>
            </a:r>
            <a:r>
              <a:rPr lang="en-GB" dirty="0"/>
              <a:t> </a:t>
            </a:r>
            <a:r>
              <a:rPr lang="en-GB" dirty="0" err="1"/>
              <a:t>ik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apparat ga </a:t>
            </a:r>
            <a:r>
              <a:rPr lang="en-GB" dirty="0" err="1"/>
              <a:t>ontwikkelen</a:t>
            </a:r>
            <a:r>
              <a:rPr lang="en-GB" dirty="0"/>
              <a:t> die de </a:t>
            </a:r>
            <a:r>
              <a:rPr lang="en-GB" dirty="0" err="1"/>
              <a:t>aanwezigheid</a:t>
            </a:r>
            <a:r>
              <a:rPr lang="en-GB" dirty="0"/>
              <a:t> van de </a:t>
            </a:r>
            <a:r>
              <a:rPr lang="en-GB" dirty="0" err="1"/>
              <a:t>clienten</a:t>
            </a:r>
            <a:r>
              <a:rPr lang="en-GB" dirty="0"/>
              <a:t> </a:t>
            </a:r>
            <a:r>
              <a:rPr lang="en-GB" dirty="0" err="1"/>
              <a:t>bijhoud</a:t>
            </a:r>
            <a:endParaRPr lang="en-GB" dirty="0"/>
          </a:p>
          <a:p>
            <a:endParaRPr lang="en-GB" dirty="0"/>
          </a:p>
          <a:p>
            <a:r>
              <a:rPr lang="en-GB" dirty="0"/>
              <a:t>Ze </a:t>
            </a:r>
            <a:r>
              <a:rPr lang="en-GB" dirty="0" err="1"/>
              <a:t>doen</a:t>
            </a:r>
            <a:r>
              <a:rPr lang="en-GB" dirty="0"/>
              <a:t> </a:t>
            </a:r>
            <a:r>
              <a:rPr lang="en-GB" dirty="0" err="1"/>
              <a:t>dit</a:t>
            </a:r>
            <a:r>
              <a:rPr lang="en-GB" dirty="0"/>
              <a:t> door met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pasje</a:t>
            </a:r>
            <a:r>
              <a:rPr lang="en-GB" dirty="0"/>
              <a:t> in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klokken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handtekening</a:t>
            </a:r>
            <a:r>
              <a:rPr lang="en-GB" dirty="0"/>
              <a:t> </a:t>
            </a:r>
            <a:r>
              <a:rPr lang="en-GB" dirty="0" err="1"/>
              <a:t>neer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zetten</a:t>
            </a:r>
            <a:r>
              <a:rPr lang="en-GB" dirty="0"/>
              <a:t>. 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Deze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 word </a:t>
            </a:r>
            <a:r>
              <a:rPr lang="en-GB" dirty="0" err="1"/>
              <a:t>verwerkt</a:t>
            </a:r>
            <a:r>
              <a:rPr lang="en-GB" dirty="0"/>
              <a:t> in de server database.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Om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gebruik</a:t>
            </a:r>
            <a:r>
              <a:rPr lang="en-GB" dirty="0"/>
              <a:t> van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maken</a:t>
            </a:r>
            <a:r>
              <a:rPr lang="en-GB" dirty="0"/>
              <a:t> </a:t>
            </a:r>
            <a:r>
              <a:rPr lang="en-GB" dirty="0" err="1"/>
              <a:t>heb</a:t>
            </a:r>
            <a:r>
              <a:rPr lang="en-GB" dirty="0"/>
              <a:t> </a:t>
            </a:r>
            <a:r>
              <a:rPr lang="en-GB" dirty="0" err="1"/>
              <a:t>ik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dashboard </a:t>
            </a:r>
            <a:r>
              <a:rPr lang="en-GB" dirty="0" err="1"/>
              <a:t>opgezet</a:t>
            </a:r>
            <a:r>
              <a:rPr lang="en-GB" dirty="0"/>
              <a:t>, </a:t>
            </a:r>
            <a:r>
              <a:rPr lang="en-GB" dirty="0" err="1"/>
              <a:t>waar</a:t>
            </a:r>
            <a:r>
              <a:rPr lang="en-GB" dirty="0"/>
              <a:t> alle </a:t>
            </a:r>
            <a:r>
              <a:rPr lang="en-GB" dirty="0" err="1"/>
              <a:t>handtekening</a:t>
            </a:r>
            <a:r>
              <a:rPr lang="en-GB" dirty="0"/>
              <a:t> </a:t>
            </a:r>
            <a:r>
              <a:rPr lang="en-GB" dirty="0" err="1"/>
              <a:t>overzichtelijk</a:t>
            </a:r>
            <a:r>
              <a:rPr lang="en-GB" dirty="0"/>
              <a:t> </a:t>
            </a:r>
            <a:r>
              <a:rPr lang="en-GB" dirty="0" err="1"/>
              <a:t>uit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lezen</a:t>
            </a:r>
            <a:r>
              <a:rPr lang="en-GB" dirty="0"/>
              <a:t> </a:t>
            </a:r>
            <a:r>
              <a:rPr lang="en-GB" dirty="0" err="1"/>
              <a:t>zijn</a:t>
            </a:r>
            <a:r>
              <a:rPr lang="en-GB" dirty="0"/>
              <a:t>,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makkelijk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exporteren</a:t>
            </a:r>
            <a:r>
              <a:rPr lang="en-GB" dirty="0"/>
              <a:t> </a:t>
            </a:r>
            <a:r>
              <a:rPr lang="en-GB" dirty="0" err="1"/>
              <a:t>naar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geordend</a:t>
            </a:r>
            <a:r>
              <a:rPr lang="en-GB" dirty="0"/>
              <a:t> PDF </a:t>
            </a:r>
            <a:r>
              <a:rPr lang="en-GB" dirty="0" err="1"/>
              <a:t>bestand</a:t>
            </a:r>
            <a:r>
              <a:rPr lang="en-GB" dirty="0"/>
              <a:t> </a:t>
            </a:r>
            <a:r>
              <a:rPr lang="en-GB" dirty="0" err="1"/>
              <a:t>zodat</a:t>
            </a:r>
            <a:r>
              <a:rPr lang="en-GB" dirty="0"/>
              <a:t> </a:t>
            </a:r>
            <a:r>
              <a:rPr lang="en-GB" dirty="0" err="1"/>
              <a:t>dit</a:t>
            </a:r>
            <a:r>
              <a:rPr lang="en-GB" dirty="0"/>
              <a:t> </a:t>
            </a:r>
            <a:r>
              <a:rPr lang="en-GB" dirty="0" err="1"/>
              <a:t>makkelijk</a:t>
            </a:r>
            <a:r>
              <a:rPr lang="en-GB" dirty="0"/>
              <a:t> </a:t>
            </a:r>
            <a:r>
              <a:rPr lang="en-GB" dirty="0" err="1"/>
              <a:t>gebruikt</a:t>
            </a:r>
            <a:r>
              <a:rPr lang="en-GB" dirty="0"/>
              <a:t>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worden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facturering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Ik sla twee </a:t>
            </a:r>
            <a:r>
              <a:rPr lang="en-GB" dirty="0" err="1"/>
              <a:t>vliegen</a:t>
            </a:r>
            <a:r>
              <a:rPr lang="en-GB" dirty="0"/>
              <a:t> in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klap</a:t>
            </a:r>
            <a:r>
              <a:rPr lang="en-GB" dirty="0"/>
              <a:t> </a:t>
            </a:r>
            <a:r>
              <a:rPr lang="en-GB" dirty="0" err="1"/>
              <a:t>doordat</a:t>
            </a:r>
            <a:r>
              <a:rPr lang="en-GB" dirty="0"/>
              <a:t> de </a:t>
            </a:r>
            <a:r>
              <a:rPr lang="en-GB" dirty="0" err="1"/>
              <a:t>aanwezigheid</a:t>
            </a:r>
            <a:r>
              <a:rPr lang="en-GB" dirty="0"/>
              <a:t> in </a:t>
            </a:r>
            <a:r>
              <a:rPr lang="en-GB" dirty="0" err="1"/>
              <a:t>een</a:t>
            </a:r>
            <a:r>
              <a:rPr lang="en-GB" dirty="0"/>
              <a:t> central system </a:t>
            </a:r>
            <a:r>
              <a:rPr lang="en-GB" dirty="0" err="1"/>
              <a:t>staat</a:t>
            </a:r>
            <a:r>
              <a:rPr lang="en-GB" dirty="0"/>
              <a:t>, </a:t>
            </a:r>
            <a:r>
              <a:rPr lang="en-GB" dirty="0" err="1"/>
              <a:t>dat</a:t>
            </a:r>
            <a:r>
              <a:rPr lang="en-GB" dirty="0"/>
              <a:t> de </a:t>
            </a:r>
            <a:r>
              <a:rPr lang="en-GB" dirty="0" err="1"/>
              <a:t>punten</a:t>
            </a:r>
            <a:r>
              <a:rPr lang="en-GB" dirty="0"/>
              <a:t> </a:t>
            </a:r>
            <a:r>
              <a:rPr lang="en-GB" dirty="0" err="1"/>
              <a:t>toekenning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de </a:t>
            </a:r>
            <a:r>
              <a:rPr lang="en-GB" dirty="0" err="1"/>
              <a:t>clienten</a:t>
            </a:r>
            <a:r>
              <a:rPr lang="en-GB" dirty="0"/>
              <a:t> nu </a:t>
            </a:r>
            <a:r>
              <a:rPr lang="en-GB" dirty="0" err="1"/>
              <a:t>ook</a:t>
            </a:r>
            <a:r>
              <a:rPr lang="en-GB" dirty="0"/>
              <a:t> </a:t>
            </a:r>
            <a:r>
              <a:rPr lang="en-GB" dirty="0" err="1"/>
              <a:t>automatisch</a:t>
            </a:r>
            <a:r>
              <a:rPr lang="en-GB" dirty="0"/>
              <a:t> </a:t>
            </a:r>
            <a:r>
              <a:rPr lang="en-GB" dirty="0" err="1"/>
              <a:t>verwerkt</a:t>
            </a:r>
            <a:r>
              <a:rPr lang="en-GB" dirty="0"/>
              <a:t>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worden</a:t>
            </a:r>
            <a:r>
              <a:rPr lang="en-GB" dirty="0"/>
              <a:t> op basis van </a:t>
            </a:r>
            <a:r>
              <a:rPr lang="en-GB" dirty="0" err="1"/>
              <a:t>aanwezigheid</a:t>
            </a:r>
            <a:r>
              <a:rPr lang="en-GB" dirty="0"/>
              <a:t>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Ik </a:t>
            </a:r>
            <a:r>
              <a:rPr lang="en-GB" dirty="0" err="1"/>
              <a:t>heb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het begin </a:t>
            </a:r>
            <a:r>
              <a:rPr lang="en-GB" dirty="0" err="1"/>
              <a:t>onderzoek</a:t>
            </a:r>
            <a:r>
              <a:rPr lang="en-GB" dirty="0"/>
              <a:t> </a:t>
            </a:r>
            <a:r>
              <a:rPr lang="en-GB" dirty="0" err="1"/>
              <a:t>gedaan</a:t>
            </a:r>
            <a:r>
              <a:rPr lang="en-GB" dirty="0"/>
              <a:t> </a:t>
            </a:r>
            <a:r>
              <a:rPr lang="en-GB" dirty="0" err="1"/>
              <a:t>naar</a:t>
            </a:r>
            <a:r>
              <a:rPr lang="en-GB" dirty="0"/>
              <a:t> de </a:t>
            </a:r>
            <a:r>
              <a:rPr lang="en-GB" dirty="0" err="1"/>
              <a:t>onderdelen</a:t>
            </a:r>
            <a:r>
              <a:rPr lang="en-GB" dirty="0"/>
              <a:t> die </a:t>
            </a:r>
            <a:r>
              <a:rPr lang="en-GB" dirty="0" err="1"/>
              <a:t>ik</a:t>
            </a:r>
            <a:r>
              <a:rPr lang="en-GB" dirty="0"/>
              <a:t> </a:t>
            </a:r>
            <a:r>
              <a:rPr lang="en-GB" dirty="0" err="1"/>
              <a:t>moet</a:t>
            </a:r>
            <a:r>
              <a:rPr lang="en-GB" dirty="0"/>
              <a:t> </a:t>
            </a:r>
            <a:r>
              <a:rPr lang="en-GB" dirty="0" err="1"/>
              <a:t>bestellen</a:t>
            </a:r>
            <a:r>
              <a:rPr lang="en-GB" dirty="0"/>
              <a:t> op basis van de Eisen van </a:t>
            </a:r>
            <a:r>
              <a:rPr lang="en-GB" dirty="0" err="1"/>
              <a:t>mijn</a:t>
            </a:r>
            <a:r>
              <a:rPr lang="en-GB" dirty="0"/>
              <a:t> </a:t>
            </a:r>
            <a:r>
              <a:rPr lang="en-GB" dirty="0" err="1"/>
              <a:t>opdracht</a:t>
            </a:r>
            <a:r>
              <a:rPr lang="en-GB" dirty="0"/>
              <a:t> </a:t>
            </a:r>
            <a:r>
              <a:rPr lang="en-GB" dirty="0" err="1"/>
              <a:t>gever</a:t>
            </a:r>
            <a:r>
              <a:rPr lang="en-GB" dirty="0"/>
              <a:t>. Ik </a:t>
            </a:r>
            <a:r>
              <a:rPr lang="en-GB" dirty="0" err="1"/>
              <a:t>heb</a:t>
            </a:r>
            <a:r>
              <a:rPr lang="en-GB" dirty="0"/>
              <a:t> </a:t>
            </a:r>
            <a:r>
              <a:rPr lang="en-GB" dirty="0" err="1"/>
              <a:t>dit</a:t>
            </a:r>
            <a:r>
              <a:rPr lang="en-GB" dirty="0"/>
              <a:t> </a:t>
            </a:r>
            <a:r>
              <a:rPr lang="en-GB" dirty="0" err="1"/>
              <a:t>voorgesteld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mijn</a:t>
            </a:r>
            <a:r>
              <a:rPr lang="en-GB" dirty="0"/>
              <a:t> baas, </a:t>
            </a:r>
            <a:r>
              <a:rPr lang="en-GB" dirty="0" err="1"/>
              <a:t>ik</a:t>
            </a:r>
            <a:r>
              <a:rPr lang="en-GB" dirty="0"/>
              <a:t> </a:t>
            </a:r>
            <a:r>
              <a:rPr lang="en-GB" dirty="0" err="1"/>
              <a:t>heb</a:t>
            </a:r>
            <a:r>
              <a:rPr lang="en-GB" dirty="0"/>
              <a:t> </a:t>
            </a:r>
            <a:r>
              <a:rPr lang="en-GB" dirty="0" err="1"/>
              <a:t>vrijheid</a:t>
            </a:r>
            <a:r>
              <a:rPr lang="en-GB" dirty="0"/>
              <a:t> om </a:t>
            </a:r>
            <a:r>
              <a:rPr lang="en-GB" dirty="0" err="1"/>
              <a:t>voor</a:t>
            </a:r>
            <a:r>
              <a:rPr lang="en-GB" dirty="0"/>
              <a:t> het product </a:t>
            </a:r>
            <a:r>
              <a:rPr lang="en-GB" dirty="0" err="1"/>
              <a:t>onderdelen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bestellen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9697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Ik </a:t>
            </a:r>
            <a:r>
              <a:rPr lang="en-GB" dirty="0" err="1"/>
              <a:t>heb</a:t>
            </a:r>
            <a:r>
              <a:rPr lang="en-GB" dirty="0"/>
              <a:t>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Hele </a:t>
            </a:r>
            <a:r>
              <a:rPr lang="en-GB" dirty="0" err="1"/>
              <a:t>compacte</a:t>
            </a:r>
            <a:r>
              <a:rPr lang="en-GB" dirty="0"/>
              <a:t> </a:t>
            </a:r>
            <a:r>
              <a:rPr lang="en-GB" dirty="0" err="1"/>
              <a:t>versie</a:t>
            </a:r>
            <a:r>
              <a:rPr lang="en-GB" dirty="0"/>
              <a:t> van de dataflow. Wat </a:t>
            </a:r>
            <a:r>
              <a:rPr lang="en-GB" dirty="0" err="1"/>
              <a:t>weergeeft</a:t>
            </a:r>
            <a:r>
              <a:rPr lang="en-GB" dirty="0"/>
              <a:t> hoe het system </a:t>
            </a:r>
            <a:r>
              <a:rPr lang="en-GB" dirty="0" err="1"/>
              <a:t>daadwerkelijk</a:t>
            </a:r>
            <a:r>
              <a:rPr lang="en-GB" dirty="0"/>
              <a:t> </a:t>
            </a:r>
            <a:r>
              <a:rPr lang="en-GB" dirty="0" err="1"/>
              <a:t>draai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hoe de data </a:t>
            </a:r>
            <a:r>
              <a:rPr lang="en-GB" dirty="0" err="1"/>
              <a:t>verloopt</a:t>
            </a:r>
            <a:r>
              <a:rPr lang="en-GB" dirty="0"/>
              <a:t>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Het </a:t>
            </a:r>
            <a:r>
              <a:rPr lang="en-GB" dirty="0" err="1"/>
              <a:t>eerste</a:t>
            </a:r>
            <a:r>
              <a:rPr lang="en-GB" dirty="0"/>
              <a:t> is het hardware </a:t>
            </a:r>
            <a:r>
              <a:rPr lang="en-GB" dirty="0" err="1"/>
              <a:t>gedeelte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1081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8762-8F56-C612-8EC4-E19C01632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803C8-A13C-2FE3-E04E-188BF2992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64CA7-D11C-3142-158A-C22F785B0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Ik </a:t>
            </a:r>
            <a:r>
              <a:rPr lang="en-GB" dirty="0" err="1"/>
              <a:t>heb</a:t>
            </a:r>
            <a:r>
              <a:rPr lang="en-GB" dirty="0"/>
              <a:t>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Hele </a:t>
            </a:r>
            <a:r>
              <a:rPr lang="en-GB" dirty="0" err="1"/>
              <a:t>compacte</a:t>
            </a:r>
            <a:r>
              <a:rPr lang="en-GB" dirty="0"/>
              <a:t> </a:t>
            </a:r>
            <a:r>
              <a:rPr lang="en-GB" dirty="0" err="1"/>
              <a:t>versie</a:t>
            </a:r>
            <a:r>
              <a:rPr lang="en-GB" dirty="0"/>
              <a:t> van de dataflow. Wat </a:t>
            </a:r>
            <a:r>
              <a:rPr lang="en-GB" dirty="0" err="1"/>
              <a:t>weergeeft</a:t>
            </a:r>
            <a:r>
              <a:rPr lang="en-GB" dirty="0"/>
              <a:t> hoe het system </a:t>
            </a:r>
            <a:r>
              <a:rPr lang="en-GB" dirty="0" err="1"/>
              <a:t>daadwerkelijk</a:t>
            </a:r>
            <a:r>
              <a:rPr lang="en-GB" dirty="0"/>
              <a:t> </a:t>
            </a:r>
            <a:r>
              <a:rPr lang="en-GB" dirty="0" err="1"/>
              <a:t>draai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hoe de data </a:t>
            </a:r>
            <a:r>
              <a:rPr lang="en-GB" dirty="0" err="1"/>
              <a:t>verloopt</a:t>
            </a:r>
            <a:r>
              <a:rPr lang="en-GB" dirty="0"/>
              <a:t>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Het </a:t>
            </a:r>
            <a:r>
              <a:rPr lang="en-GB" dirty="0" err="1"/>
              <a:t>eerste</a:t>
            </a:r>
            <a:r>
              <a:rPr lang="en-GB" dirty="0"/>
              <a:t> is het hardware </a:t>
            </a:r>
            <a:r>
              <a:rPr lang="en-GB" dirty="0" err="1"/>
              <a:t>gedeelte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DB20F-8C06-2255-9A8C-21D786E2C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5447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87686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"Ik zit nu op ongeveer </a:t>
            </a:r>
            <a:r>
              <a:rPr lang="nl-NL" b="1" dirty="0"/>
              <a:t>61% van de taken afgerond</a:t>
            </a:r>
            <a:r>
              <a:rPr lang="nl-NL" dirty="0"/>
              <a:t>.</a:t>
            </a:r>
          </a:p>
          <a:p>
            <a:r>
              <a:rPr lang="nl-NL" dirty="0"/>
              <a:t>[Laat burndown chart zien]</a:t>
            </a:r>
          </a:p>
          <a:p>
            <a:r>
              <a:rPr lang="nl-NL" b="1" dirty="0"/>
              <a:t>Wat staat er:</a:t>
            </a:r>
            <a:r>
              <a:rPr lang="nl-NL" dirty="0"/>
              <a:t> 149 story points, waarvan 91 done en 58 to-do.</a:t>
            </a:r>
          </a:p>
          <a:p>
            <a:r>
              <a:rPr lang="nl-NL" dirty="0"/>
              <a:t>Je ziet dat vooral de </a:t>
            </a:r>
            <a:r>
              <a:rPr lang="nl-NL" b="1" dirty="0"/>
              <a:t>laatste 2 weken</a:t>
            </a:r>
            <a:r>
              <a:rPr lang="nl-NL" dirty="0"/>
              <a:t> de progressie enorm is versneld. Waarom?</a:t>
            </a:r>
          </a:p>
          <a:p>
            <a:r>
              <a:rPr lang="nl-NL" b="1" dirty="0"/>
              <a:t>Mijn grootste uitdaging:</a:t>
            </a:r>
            <a:r>
              <a:rPr lang="nl-NL" dirty="0"/>
              <a:t> Het schrijven van drivers voor het touchscreen display. De development board die ik gebruik komt </a:t>
            </a:r>
            <a:r>
              <a:rPr lang="nl-NL" b="1" dirty="0"/>
              <a:t>zonder ingebouwde libraries</a:t>
            </a:r>
            <a:r>
              <a:rPr lang="nl-NL" dirty="0"/>
              <a:t>. Ik moest zelf alles uitvogelen - registers, timing, touch detection.</a:t>
            </a:r>
          </a:p>
          <a:p>
            <a:r>
              <a:rPr lang="nl-NL" dirty="0"/>
              <a:t>Meerdere weken heb ik hierop vastgezeten. Maar toen het eenmaal werkte, ging alles razendsnel! </a:t>
            </a:r>
            <a:r>
              <a:rPr lang="nl-NL" i="1" dirty="0"/>
              <a:t>(Activiteit 10: Zelfstandig opdracht organiseren en uitvoeren)</a:t>
            </a:r>
            <a:endParaRPr lang="nl-NL" dirty="0"/>
          </a:p>
          <a:p>
            <a:r>
              <a:rPr lang="nl-NL" b="1" dirty="0"/>
              <a:t>Wat werkt nu:</a:t>
            </a:r>
            <a:endParaRPr lang="nl-NL" dirty="0"/>
          </a:p>
          <a:p>
            <a:r>
              <a:rPr lang="nl-NL" dirty="0"/>
              <a:t>Clock-in functionaliteit compleet</a:t>
            </a:r>
          </a:p>
          <a:p>
            <a:r>
              <a:rPr lang="nl-NL" dirty="0"/>
              <a:t>Database integratie</a:t>
            </a:r>
          </a:p>
          <a:p>
            <a:r>
              <a:rPr lang="nl-NL" dirty="0"/>
              <a:t>Dashboard met handtekeningen</a:t>
            </a:r>
          </a:p>
          <a:p>
            <a:r>
              <a:rPr lang="nl-NL" dirty="0"/>
              <a:t>Export naar PDF"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8022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Wat staat er op de planning voor de volgende 50%?</a:t>
            </a:r>
            <a:endParaRPr lang="nl-NL" dirty="0"/>
          </a:p>
          <a:p>
            <a:r>
              <a:rPr lang="nl-NL" b="1" dirty="0"/>
              <a:t>1. Hardware Finalisatie</a:t>
            </a:r>
            <a:endParaRPr lang="nl-NL" dirty="0"/>
          </a:p>
          <a:p>
            <a:r>
              <a:rPr lang="nl-NL" dirty="0"/>
              <a:t>Behuizing ontwerpen en 3D-printen </a:t>
            </a:r>
            <a:r>
              <a:rPr lang="nl-NL" i="1" dirty="0"/>
              <a:t>(embedded apparaat afmaken)</a:t>
            </a:r>
            <a:endParaRPr lang="nl-NL" dirty="0"/>
          </a:p>
          <a:p>
            <a:r>
              <a:rPr lang="nl-NL" dirty="0"/>
              <a:t>Quality of life toevoegingen: buzzer bij clock-in, LED-feedback, reset knop</a:t>
            </a:r>
          </a:p>
          <a:p>
            <a:r>
              <a:rPr lang="nl-NL" b="1" dirty="0"/>
              <a:t>Mogelijk:</a:t>
            </a:r>
            <a:r>
              <a:rPr lang="nl-NL" dirty="0"/>
              <a:t> Custom PCB ontwerpen en overstappen van development board naar Cortex chip only</a:t>
            </a:r>
          </a:p>
          <a:p>
            <a:r>
              <a:rPr lang="nl-NL" b="1" dirty="0"/>
              <a:t>2. Software Uitbreidingen</a:t>
            </a:r>
            <a:endParaRPr lang="nl-NL" dirty="0"/>
          </a:p>
          <a:p>
            <a:r>
              <a:rPr lang="nl-NL" dirty="0"/>
              <a:t>Admin functie: nieuwe gebruikers/RFID-passen toevoegen via dashboard </a:t>
            </a:r>
            <a:r>
              <a:rPr lang="nl-NL" i="1" dirty="0"/>
              <a:t>(nu nog handmatig via database)</a:t>
            </a:r>
            <a:endParaRPr lang="nl-NL" dirty="0"/>
          </a:p>
          <a:p>
            <a:r>
              <a:rPr lang="nl-NL" dirty="0"/>
              <a:t>Security encasing voor gevoelige data</a:t>
            </a:r>
          </a:p>
          <a:p>
            <a:r>
              <a:rPr lang="nl-NL" dirty="0"/>
              <a:t>Uitbreiding puntensysteem met checkbox features</a:t>
            </a:r>
          </a:p>
          <a:p>
            <a:r>
              <a:rPr lang="nl-NL" b="1" dirty="0"/>
              <a:t>3. Documentatie</a:t>
            </a:r>
            <a:r>
              <a:rPr lang="nl-NL" dirty="0"/>
              <a:t> </a:t>
            </a:r>
            <a:r>
              <a:rPr lang="nl-NL" i="1" dirty="0"/>
              <a:t>(Activiteit 8: Overdracht documentatie)</a:t>
            </a:r>
            <a:endParaRPr lang="nl-NL" dirty="0"/>
          </a:p>
          <a:p>
            <a:r>
              <a:rPr lang="nl-NL" dirty="0"/>
              <a:t>Technische documentatie voor het bedrijf</a:t>
            </a:r>
          </a:p>
          <a:p>
            <a:r>
              <a:rPr lang="nl-NL" dirty="0"/>
              <a:t>Gebruikershandleiding</a:t>
            </a:r>
          </a:p>
          <a:p>
            <a:r>
              <a:rPr lang="nl-NL" b="1" dirty="0"/>
              <a:t>4. Testen &amp; Deployment</a:t>
            </a:r>
            <a:r>
              <a:rPr lang="nl-NL" dirty="0"/>
              <a:t> </a:t>
            </a:r>
            <a:r>
              <a:rPr lang="nl-NL" i="1" dirty="0"/>
              <a:t>(Activiteit 4: Testen ontwikkelen en uitvoeren)</a:t>
            </a:r>
            <a:endParaRPr lang="nl-NL" dirty="0"/>
          </a:p>
          <a:p>
            <a:r>
              <a:rPr lang="nl-NL" dirty="0"/>
              <a:t>Grondig testen in productieomgeving</a:t>
            </a:r>
          </a:p>
          <a:p>
            <a:r>
              <a:rPr lang="nl-NL" dirty="0"/>
              <a:t>Feedback verwerken"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82967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Ik heb </a:t>
            </a:r>
            <a:r>
              <a:rPr lang="nl-NL" b="1" dirty="0"/>
              <a:t>ontzettend veel geleerd</a:t>
            </a:r>
            <a:r>
              <a:rPr lang="nl-NL" dirty="0"/>
              <a:t>, en de stage was het </a:t>
            </a:r>
            <a:r>
              <a:rPr lang="nl-NL" b="1" dirty="0"/>
              <a:t>leukste gedeelte van mijn opleiding</a:t>
            </a:r>
            <a:r>
              <a:rPr lang="nl-NL" dirty="0"/>
              <a:t> tot nu toe.</a:t>
            </a:r>
          </a:p>
          <a:p>
            <a:r>
              <a:rPr lang="nl-NL" dirty="0"/>
              <a:t>In het begin was het spannend - vooral toen ik </a:t>
            </a:r>
            <a:r>
              <a:rPr lang="nl-NL" b="1" dirty="0"/>
              <a:t>wekenlang vastzat</a:t>
            </a:r>
            <a:r>
              <a:rPr lang="nl-NL" dirty="0"/>
              <a:t> op het touchscreen driver probleem. Ik twijfelde of het wel zou lukken.</a:t>
            </a:r>
          </a:p>
          <a:p>
            <a:r>
              <a:rPr lang="nl-NL" b="1" dirty="0"/>
              <a:t>Maar:</a:t>
            </a:r>
            <a:r>
              <a:rPr lang="nl-NL" dirty="0"/>
              <a:t> Dit heeft me geleerd om door te zetten, zelf documentatie te doorzoeken, en stap voor stap problemen op te lossen. </a:t>
            </a:r>
            <a:r>
              <a:rPr lang="nl-NL" i="1" dirty="0"/>
              <a:t>(Activiteit 10-11: Zelfstandig werken, proactief communiceren)</a:t>
            </a:r>
            <a:endParaRPr lang="nl-NL" dirty="0"/>
          </a:p>
          <a:p>
            <a:r>
              <a:rPr lang="nl-NL" dirty="0"/>
              <a:t>Nu dat werkt, ga ik </a:t>
            </a:r>
            <a:r>
              <a:rPr lang="nl-NL" b="1" dirty="0"/>
              <a:t>heel hard door de user stories heen</a:t>
            </a:r>
            <a:r>
              <a:rPr lang="nl-NL" dirty="0"/>
              <a:t> en twijfel ik er niet aan dat ik tot een </a:t>
            </a:r>
            <a:r>
              <a:rPr lang="nl-NL" b="1" dirty="0"/>
              <a:t>solide MVP</a:t>
            </a:r>
            <a:r>
              <a:rPr lang="nl-NL" dirty="0"/>
              <a:t> kom.</a:t>
            </a:r>
          </a:p>
          <a:p>
            <a:r>
              <a:rPr lang="nl-NL" b="1" dirty="0"/>
              <a:t>Samenwerking met het team</a:t>
            </a:r>
            <a:r>
              <a:rPr lang="nl-NL" dirty="0"/>
              <a:t> verliep goed - ik heb regelmatig overlegd met mijn bedrijfsbegeleider en collega's voor feedback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6220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8609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27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7861044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346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172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331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310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505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416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461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8948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0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58777-2DDE-962D-76E7-3FEDA605F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267" y="1895596"/>
            <a:ext cx="6921963" cy="2175424"/>
          </a:xfrm>
        </p:spPr>
        <p:txBody>
          <a:bodyPr/>
          <a:lstStyle/>
          <a:p>
            <a:r>
              <a:rPr lang="en-GB" dirty="0">
                <a:latin typeface="Abadi" panose="020F0502020204030204" pitchFamily="34" charset="0"/>
              </a:rPr>
              <a:t>Attendance </a:t>
            </a:r>
            <a:r>
              <a:rPr lang="en-GB" dirty="0" err="1">
                <a:latin typeface="Abadi" panose="020F0502020204030204" pitchFamily="34" charset="0"/>
              </a:rPr>
              <a:t>Systeem</a:t>
            </a:r>
            <a:endParaRPr lang="nl-NL" dirty="0">
              <a:latin typeface="Abadi" panose="020F0502020204030204" pitchFamily="34" charset="0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7BDE6B4-019E-DFF9-A828-AD1289FB2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47702" y="6277893"/>
            <a:ext cx="5357600" cy="1160213"/>
          </a:xfrm>
        </p:spPr>
        <p:txBody>
          <a:bodyPr/>
          <a:lstStyle/>
          <a:p>
            <a:r>
              <a:rPr lang="nl-NL" dirty="0">
                <a:latin typeface="Abadi" panose="020F0502020204030204" pitchFamily="34" charset="0"/>
              </a:rPr>
              <a:t>Door: Derk 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9569E5E0-4C6D-DFE9-EC4F-DBF0C92A54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ID4096"/>
          </a:p>
        </p:txBody>
      </p:sp>
      <p:pic>
        <p:nvPicPr>
          <p:cNvPr id="8" name="Picture 7" descr="A logo with a face and dots&#10;&#10;AI-generated content may be incorrect.">
            <a:extLst>
              <a:ext uri="{FF2B5EF4-FFF2-40B4-BE49-F238E27FC236}">
                <a16:creationId xmlns:a16="http://schemas.microsoft.com/office/drawing/2014/main" id="{5FB036A5-AED5-E0D1-01F2-B761CE4F4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67" y="239188"/>
            <a:ext cx="3436012" cy="13440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518172-B8B5-896E-F935-325ACB6FEB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133" y="1354772"/>
            <a:ext cx="5943600" cy="44532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8188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500E6-1AB2-F4FF-14D9-4ED9E811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badi" panose="020F0502020204030204" pitchFamily="34" charset="0"/>
              </a:rPr>
              <a:t>Inhoud</a:t>
            </a:r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598E22F9-ED67-966A-2574-810067FC6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494760"/>
              </p:ext>
            </p:extLst>
          </p:nvPr>
        </p:nvGraphicFramePr>
        <p:xfrm>
          <a:off x="704089" y="1517904"/>
          <a:ext cx="9555036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978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8F88D-9540-5302-9AC3-E4DDE38F7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594380-7025-4997-AD15-9AB8A811A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4CAA0-9467-AFCE-5DE5-C3268111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3" y="365760"/>
            <a:ext cx="6111914" cy="15585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Context </a:t>
            </a:r>
            <a:r>
              <a:rPr lang="en-US" dirty="0" err="1">
                <a:latin typeface="Abadi" panose="020B0604020104020204" pitchFamily="34" charset="0"/>
              </a:rPr>
              <a:t>Bedrijf</a:t>
            </a:r>
            <a:br>
              <a:rPr lang="en-US" dirty="0">
                <a:latin typeface="Abadi" panose="020B0604020104020204" pitchFamily="34" charset="0"/>
              </a:rPr>
            </a:b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51F0B-9107-BC80-9FF9-562701B16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1003" y="2201308"/>
            <a:ext cx="6272783" cy="397882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>
                <a:latin typeface="Abadi" panose="020B0604020104020204" pitchFamily="34" charset="0"/>
              </a:rPr>
              <a:t>Mijn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rol</a:t>
            </a:r>
            <a:r>
              <a:rPr lang="en-US" dirty="0">
                <a:latin typeface="Abadi" panose="020B0604020104020204" pitchFamily="34" charset="0"/>
              </a:rPr>
              <a:t>: Embedded Developer</a:t>
            </a:r>
          </a:p>
          <a:p>
            <a:r>
              <a:rPr lang="en-US" dirty="0">
                <a:latin typeface="Abadi" panose="020B0604020104020204" pitchFamily="34" charset="0"/>
              </a:rPr>
              <a:t>ICT-</a:t>
            </a:r>
            <a:r>
              <a:rPr lang="en-US" dirty="0" err="1">
                <a:latin typeface="Abadi" panose="020B0604020104020204" pitchFamily="34" charset="0"/>
              </a:rPr>
              <a:t>werkplek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voor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ontwikkeling</a:t>
            </a:r>
            <a:r>
              <a:rPr lang="en-US" dirty="0">
                <a:latin typeface="Abadi" panose="020B0604020104020204" pitchFamily="34" charset="0"/>
              </a:rPr>
              <a:t> van talent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vaardigheden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Breed scala </a:t>
            </a:r>
            <a:r>
              <a:rPr lang="en-US" dirty="0" err="1">
                <a:latin typeface="Abadi" panose="020B0604020104020204" pitchFamily="34" charset="0"/>
              </a:rPr>
              <a:t>aan</a:t>
            </a:r>
            <a:r>
              <a:rPr lang="en-US" dirty="0">
                <a:latin typeface="Abadi" panose="020B0604020104020204" pitchFamily="34" charset="0"/>
              </a:rPr>
              <a:t> ICT-disciplines</a:t>
            </a:r>
          </a:p>
          <a:p>
            <a:r>
              <a:rPr lang="en-US" dirty="0" err="1">
                <a:latin typeface="Abadi" panose="020B0604020104020204" pitchFamily="34" charset="0"/>
              </a:rPr>
              <a:t>Verdien</a:t>
            </a:r>
            <a:r>
              <a:rPr lang="en-US" dirty="0">
                <a:latin typeface="Abadi" panose="020B0604020104020204" pitchFamily="34" charset="0"/>
              </a:rPr>
              <a:t> model </a:t>
            </a:r>
            <a:r>
              <a:rPr lang="en-US" dirty="0" err="1">
                <a:latin typeface="Abadi" panose="020B0604020104020204" pitchFamily="34" charset="0"/>
              </a:rPr>
              <a:t>Gebaseerd</a:t>
            </a:r>
            <a:r>
              <a:rPr lang="en-US" dirty="0">
                <a:latin typeface="Abadi" panose="020B0604020104020204" pitchFamily="34" charset="0"/>
              </a:rPr>
              <a:t> op </a:t>
            </a:r>
            <a:r>
              <a:rPr lang="en-US" b="1" dirty="0" err="1">
                <a:latin typeface="Abadi" panose="020B0604020104020204" pitchFamily="34" charset="0"/>
              </a:rPr>
              <a:t>aantoonbare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aanwezigheid</a:t>
            </a:r>
            <a:r>
              <a:rPr lang="en-US" dirty="0">
                <a:latin typeface="Abadi" panose="020B0604020104020204" pitchFamily="34" charset="0"/>
              </a:rPr>
              <a:t> van </a:t>
            </a:r>
            <a:r>
              <a:rPr lang="en-US" dirty="0" err="1">
                <a:latin typeface="Abadi" panose="020B0604020104020204" pitchFamily="34" charset="0"/>
              </a:rPr>
              <a:t>deelnemers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nl-NL" dirty="0">
                <a:latin typeface="Abadi" panose="020B0604020104020204" pitchFamily="34" charset="0"/>
              </a:rPr>
              <a:t>Waarom deze stage</a:t>
            </a:r>
          </a:p>
          <a:p>
            <a:r>
              <a:rPr lang="nl-NL" dirty="0">
                <a:latin typeface="Abadi" panose="020B0604020104020204" pitchFamily="34" charset="0"/>
              </a:rPr>
              <a:t>Meer dan een jaar hier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7E013D-0DE5-4A1E-B229-8063BAAE9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90960" y="-2811"/>
            <a:ext cx="3601880" cy="68608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965409-DC7A-F4B0-96FA-F7E514491F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499" y="321733"/>
            <a:ext cx="2506066" cy="1879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8708CD-C46E-5B59-2392-1321BA9256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498" y="2498663"/>
            <a:ext cx="2506066" cy="1879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3C1522-8CED-DB86-54B8-CE81D18B7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470" y="5003915"/>
            <a:ext cx="2968123" cy="118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18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29B2-0968-5745-88BC-BF6F12B3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534807"/>
            <a:ext cx="9692640" cy="688022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Abadi" panose="020B0604020104020204" pitchFamily="34" charset="0"/>
              </a:rPr>
              <a:t>Het </a:t>
            </a:r>
            <a:r>
              <a:rPr lang="en-GB" dirty="0" err="1">
                <a:latin typeface="Abadi" panose="020B0604020104020204" pitchFamily="34" charset="0"/>
              </a:rPr>
              <a:t>Probleem</a:t>
            </a:r>
            <a:endParaRPr lang="LID4096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9460-D98E-0525-911D-A55E14FFA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1872" y="1471455"/>
            <a:ext cx="4480560" cy="2046445"/>
          </a:xfrm>
        </p:spPr>
        <p:txBody>
          <a:bodyPr/>
          <a:lstStyle/>
          <a:p>
            <a:r>
              <a:rPr lang="nl-NL" dirty="0">
                <a:latin typeface="Abadi" panose="020B0604020104020204" pitchFamily="34" charset="0"/>
              </a:rPr>
              <a:t>Hoge Werkdruk Administratie</a:t>
            </a:r>
          </a:p>
          <a:p>
            <a:r>
              <a:rPr lang="nl-NL" dirty="0">
                <a:latin typeface="Abadi" panose="020B0604020104020204" pitchFamily="34" charset="0"/>
              </a:rPr>
              <a:t>Handmatige Registratie aanwezigheid </a:t>
            </a:r>
          </a:p>
          <a:p>
            <a:r>
              <a:rPr lang="nl-NL" dirty="0">
                <a:latin typeface="Abadi" panose="020B0604020104020204" pitchFamily="34" charset="0"/>
              </a:rPr>
              <a:t>Tijd verspilling</a:t>
            </a:r>
          </a:p>
          <a:p>
            <a:r>
              <a:rPr lang="nl-NL" dirty="0">
                <a:latin typeface="Abadi" panose="020B0604020104020204" pitchFamily="34" charset="0"/>
              </a:rPr>
              <a:t>Foutgevoelig</a:t>
            </a:r>
            <a:endParaRPr lang="LID4096" dirty="0">
              <a:latin typeface="Abadi" panose="020B0604020104020204" pitchFamily="34" charset="0"/>
            </a:endParaRPr>
          </a:p>
        </p:txBody>
      </p:sp>
      <p:pic>
        <p:nvPicPr>
          <p:cNvPr id="2058" name="Picture 10" descr="Monkey on Computer | TikTok">
            <a:extLst>
              <a:ext uri="{FF2B5EF4-FFF2-40B4-BE49-F238E27FC236}">
                <a16:creationId xmlns:a16="http://schemas.microsoft.com/office/drawing/2014/main" id="{7EF1A071-F030-F0C3-E36A-AEB21A4EC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874" y="533377"/>
            <a:ext cx="2551628" cy="321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Medium Shot Baboon Pounding On Laptop Keyboard - HD stock video ...">
            <a:extLst>
              <a:ext uri="{FF2B5EF4-FFF2-40B4-BE49-F238E27FC236}">
                <a16:creationId xmlns:a16="http://schemas.microsoft.com/office/drawing/2014/main" id="{4C1DD464-6D18-D0FA-39C2-5F99D3074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228" y="3997054"/>
            <a:ext cx="4173460" cy="234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34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53EF-4EF1-9C22-86EF-ABB0F438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15" y="106833"/>
            <a:ext cx="9692640" cy="1325562"/>
          </a:xfrm>
        </p:spPr>
        <p:txBody>
          <a:bodyPr/>
          <a:lstStyle/>
          <a:p>
            <a:r>
              <a:rPr lang="nl-NL" dirty="0">
                <a:latin typeface="Abadi" panose="020B0604020104020204" pitchFamily="34" charset="0"/>
              </a:rPr>
              <a:t>De Oplossing</a:t>
            </a:r>
            <a:endParaRPr lang="LID4096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84CCF-C1CF-5B22-0A0D-798171EE0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1715" y="1466479"/>
            <a:ext cx="4480560" cy="4351337"/>
          </a:xfrm>
        </p:spPr>
        <p:txBody>
          <a:bodyPr/>
          <a:lstStyle/>
          <a:p>
            <a:r>
              <a:rPr lang="nl-NL" dirty="0">
                <a:latin typeface="Abadi" panose="020B0604020104020204" pitchFamily="34" charset="0"/>
              </a:rPr>
              <a:t>Pas + Handtekening</a:t>
            </a:r>
          </a:p>
          <a:p>
            <a:r>
              <a:rPr lang="it-IT" dirty="0">
                <a:latin typeface="Abadi" panose="020B0604020104020204" pitchFamily="34" charset="0"/>
              </a:rPr>
              <a:t>Data direct naar </a:t>
            </a:r>
            <a:r>
              <a:rPr lang="it-IT" b="1" dirty="0">
                <a:latin typeface="Abadi" panose="020B0604020104020204" pitchFamily="34" charset="0"/>
              </a:rPr>
              <a:t>Centrale Database</a:t>
            </a:r>
          </a:p>
          <a:p>
            <a:r>
              <a:rPr lang="nl-NL" dirty="0">
                <a:latin typeface="Abadi" panose="020B0604020104020204" pitchFamily="34" charset="0"/>
              </a:rPr>
              <a:t>Admin </a:t>
            </a:r>
            <a:r>
              <a:rPr lang="nl-NL" b="1" dirty="0">
                <a:latin typeface="Abadi" panose="020B0604020104020204" pitchFamily="34" charset="0"/>
              </a:rPr>
              <a:t>Dashboard</a:t>
            </a:r>
            <a:r>
              <a:rPr lang="nl-NL" dirty="0">
                <a:latin typeface="Abadi" panose="020B0604020104020204" pitchFamily="34" charset="0"/>
              </a:rPr>
              <a:t> (Realtime overzicht en PDF-export</a:t>
            </a:r>
            <a:r>
              <a:rPr lang="it-IT" b="1" dirty="0">
                <a:latin typeface="Abadi" panose="020B0604020104020204" pitchFamily="34" charset="0"/>
              </a:rPr>
              <a:t> 	</a:t>
            </a:r>
          </a:p>
          <a:p>
            <a:r>
              <a:rPr lang="en-GB" dirty="0">
                <a:latin typeface="Abadi" panose="020B0604020104020204" pitchFamily="34" charset="0"/>
              </a:rPr>
              <a:t>Hardware -&gt; database -&gt;dashboard</a:t>
            </a:r>
          </a:p>
          <a:p>
            <a:r>
              <a:rPr lang="en-GB" b="1" dirty="0">
                <a:latin typeface="Abadi" panose="020B0604020104020204" pitchFamily="34" charset="0"/>
              </a:rPr>
              <a:t>Bonus: </a:t>
            </a:r>
            <a:r>
              <a:rPr lang="en-GB" dirty="0" err="1">
                <a:latin typeface="Abadi" panose="020B0604020104020204" pitchFamily="34" charset="0"/>
              </a:rPr>
              <a:t>Punten</a:t>
            </a:r>
            <a:r>
              <a:rPr lang="en-GB" dirty="0">
                <a:latin typeface="Abadi" panose="020B0604020104020204" pitchFamily="34" charset="0"/>
              </a:rPr>
              <a:t> system</a:t>
            </a:r>
          </a:p>
          <a:p>
            <a:r>
              <a:rPr lang="en-GB" dirty="0" err="1">
                <a:latin typeface="Abadi" panose="020B0604020104020204" pitchFamily="34" charset="0"/>
              </a:rPr>
              <a:t>Onderzoek</a:t>
            </a:r>
            <a:r>
              <a:rPr lang="en-GB" dirty="0">
                <a:latin typeface="Abadi" panose="020B0604020104020204" pitchFamily="34" charset="0"/>
              </a:rPr>
              <a:t> </a:t>
            </a:r>
            <a:r>
              <a:rPr lang="en-GB" dirty="0" err="1">
                <a:latin typeface="Abadi" panose="020B0604020104020204" pitchFamily="34" charset="0"/>
              </a:rPr>
              <a:t>onderdelen</a:t>
            </a:r>
            <a:endParaRPr lang="LID4096" dirty="0">
              <a:latin typeface="Abadi" panose="020B0604020104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34F30FA-775A-B1B0-2CFE-7763CEEA8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983" y="336584"/>
            <a:ext cx="1930400" cy="24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ELECROW Touchscreen monitor, Raspberry Pi-display, kleine monitor, 10,1  inch, 1280 x 800 HD mini-display voor Raspberry Pi 5/400/4/3/2/Zero/B/B+,  ...">
            <a:extLst>
              <a:ext uri="{FF2B5EF4-FFF2-40B4-BE49-F238E27FC236}">
                <a16:creationId xmlns:a16="http://schemas.microsoft.com/office/drawing/2014/main" id="{4DF042C2-B624-4BDA-C3A0-F09F92110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495" y="509005"/>
            <a:ext cx="1662883" cy="1563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664C63-377B-6A55-31D7-0E7F01DC8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053" y="2782466"/>
            <a:ext cx="464844" cy="4886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7300E2-6ABD-E4DC-7FEA-B762E8851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4064" y="2699501"/>
            <a:ext cx="673179" cy="675049"/>
          </a:xfrm>
          <a:prstGeom prst="rect">
            <a:avLst/>
          </a:prstGeom>
        </p:spPr>
      </p:pic>
      <p:pic>
        <p:nvPicPr>
          <p:cNvPr id="2064" name="Picture 16" descr="300+ Free Database &amp; Data Images - Pixabay">
            <a:extLst>
              <a:ext uri="{FF2B5EF4-FFF2-40B4-BE49-F238E27FC236}">
                <a16:creationId xmlns:a16="http://schemas.microsoft.com/office/drawing/2014/main" id="{CA70D849-0B9D-C112-928A-74F27564A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582" y="4294614"/>
            <a:ext cx="1491352" cy="149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ashboard Icon Vector Art, Icons, and Graphics for Free Download">
            <a:extLst>
              <a:ext uri="{FF2B5EF4-FFF2-40B4-BE49-F238E27FC236}">
                <a16:creationId xmlns:a16="http://schemas.microsoft.com/office/drawing/2014/main" id="{57AC764A-FDAC-89A0-5799-BBC7364AB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087" y="4748177"/>
            <a:ext cx="1588139" cy="128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Use RC522 RFID module with Arduino and an OLED display - RFID lock -  Electronics-Lab">
            <a:extLst>
              <a:ext uri="{FF2B5EF4-FFF2-40B4-BE49-F238E27FC236}">
                <a16:creationId xmlns:a16="http://schemas.microsoft.com/office/drawing/2014/main" id="{CD65E227-0A23-9EE9-E8F6-984189E10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781" y="1999804"/>
            <a:ext cx="1930400" cy="164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BD1ED5-F2EF-4F09-5B2C-B73CDD9B05CD}"/>
              </a:ext>
            </a:extLst>
          </p:cNvPr>
          <p:cNvSpPr/>
          <p:nvPr/>
        </p:nvSpPr>
        <p:spPr>
          <a:xfrm>
            <a:off x="7035781" y="411714"/>
            <a:ext cx="3759200" cy="3066598"/>
          </a:xfrm>
          <a:prstGeom prst="rect">
            <a:avLst/>
          </a:prstGeom>
          <a:solidFill>
            <a:srgbClr val="FFFFFF">
              <a:alpha val="117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rgbClr val="070B13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1350C6-C91F-2088-E591-197E40F20C63}"/>
              </a:ext>
            </a:extLst>
          </p:cNvPr>
          <p:cNvSpPr txBox="1"/>
          <p:nvPr/>
        </p:nvSpPr>
        <p:spPr>
          <a:xfrm>
            <a:off x="2956585" y="4489816"/>
            <a:ext cx="214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badi" panose="020B0604020104020204" pitchFamily="34" charset="0"/>
              </a:rPr>
              <a:t>Admin Dashboard</a:t>
            </a:r>
            <a:endParaRPr lang="LID4096" sz="1400" dirty="0">
              <a:latin typeface="Abadi" panose="020B06040201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6FA86C-BA03-A64C-4A3F-AA1C01F60D3E}"/>
              </a:ext>
            </a:extLst>
          </p:cNvPr>
          <p:cNvSpPr txBox="1"/>
          <p:nvPr/>
        </p:nvSpPr>
        <p:spPr>
          <a:xfrm>
            <a:off x="6169487" y="4017078"/>
            <a:ext cx="214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badi" panose="020B0604020104020204" pitchFamily="34" charset="0"/>
              </a:rPr>
              <a:t>Database (Server)</a:t>
            </a:r>
            <a:endParaRPr lang="LID4096" sz="1400" dirty="0">
              <a:latin typeface="Abadi" panose="020B06040201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CBB3DE-4B0D-B196-5217-FFE26996E005}"/>
              </a:ext>
            </a:extLst>
          </p:cNvPr>
          <p:cNvSpPr txBox="1"/>
          <p:nvPr/>
        </p:nvSpPr>
        <p:spPr>
          <a:xfrm>
            <a:off x="8315787" y="85063"/>
            <a:ext cx="2146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badi" panose="020B0604020104020204" pitchFamily="34" charset="0"/>
              </a:rPr>
              <a:t>Embedded </a:t>
            </a:r>
            <a:r>
              <a:rPr lang="en-GB" sz="1400" dirty="0" err="1">
                <a:latin typeface="Abadi" panose="020B0604020104020204" pitchFamily="34" charset="0"/>
              </a:rPr>
              <a:t>Apparaat</a:t>
            </a:r>
            <a:endParaRPr lang="en-GB" sz="1400" dirty="0">
              <a:latin typeface="Abadi" panose="020B0604020104020204" pitchFamily="34" charset="0"/>
            </a:endParaRPr>
          </a:p>
          <a:p>
            <a:endParaRPr lang="LID4096" sz="1400" dirty="0">
              <a:latin typeface="Abadi" panose="020B0604020104020204" pitchFamily="34" charset="0"/>
            </a:endParaRPr>
          </a:p>
        </p:txBody>
      </p:sp>
      <p:pic>
        <p:nvPicPr>
          <p:cNvPr id="3082" name="Picture 10" descr="Online PDF converter, Word naar PDF | PDF naar Word | JPG naar PDF | PDF  draaien | PDF samenvoegen | PDF splitsen | 2pdf.nl">
            <a:extLst>
              <a:ext uri="{FF2B5EF4-FFF2-40B4-BE49-F238E27FC236}">
                <a16:creationId xmlns:a16="http://schemas.microsoft.com/office/drawing/2014/main" id="{1FEAC026-6D93-5869-9F18-267FFC8A58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25"/>
          <a:stretch/>
        </p:blipFill>
        <p:spPr bwMode="auto">
          <a:xfrm>
            <a:off x="597785" y="5233065"/>
            <a:ext cx="1037164" cy="110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5076D5-C562-2D09-7A6B-26B8EEDE4BF5}"/>
              </a:ext>
            </a:extLst>
          </p:cNvPr>
          <p:cNvSpPr txBox="1"/>
          <p:nvPr/>
        </p:nvSpPr>
        <p:spPr>
          <a:xfrm>
            <a:off x="237218" y="4908963"/>
            <a:ext cx="214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>
                <a:latin typeface="Abadi" panose="020B0604020104020204" pitchFamily="34" charset="0"/>
              </a:rPr>
              <a:t>Overzicht</a:t>
            </a:r>
            <a:r>
              <a:rPr lang="en-GB" sz="1400" dirty="0">
                <a:latin typeface="Abadi" panose="020B0604020104020204" pitchFamily="34" charset="0"/>
              </a:rPr>
              <a:t> </a:t>
            </a:r>
            <a:r>
              <a:rPr lang="en-GB" sz="1400" dirty="0" err="1">
                <a:latin typeface="Abadi" panose="020B0604020104020204" pitchFamily="34" charset="0"/>
              </a:rPr>
              <a:t>Aanwezigheid</a:t>
            </a:r>
            <a:endParaRPr lang="LID4096" sz="1400" dirty="0">
              <a:latin typeface="Abadi" panose="020B0604020104020204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7721629-FE0E-B63C-8C5B-5BD6BBA5B4FD}"/>
              </a:ext>
            </a:extLst>
          </p:cNvPr>
          <p:cNvCxnSpPr>
            <a:stCxn id="3076" idx="1"/>
            <a:endCxn id="3082" idx="3"/>
          </p:cNvCxnSpPr>
          <p:nvPr/>
        </p:nvCxnSpPr>
        <p:spPr>
          <a:xfrm flipH="1">
            <a:off x="1634949" y="5391521"/>
            <a:ext cx="1497138" cy="39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D8A4AA-26E5-34D8-909B-54FBC1560736}"/>
              </a:ext>
            </a:extLst>
          </p:cNvPr>
          <p:cNvCxnSpPr>
            <a:stCxn id="3076" idx="3"/>
            <a:endCxn id="2064" idx="1"/>
          </p:cNvCxnSpPr>
          <p:nvPr/>
        </p:nvCxnSpPr>
        <p:spPr>
          <a:xfrm flipV="1">
            <a:off x="4720226" y="5040290"/>
            <a:ext cx="1462356" cy="351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D574AB2-0123-C0AF-476A-2691F4C1C0A7}"/>
              </a:ext>
            </a:extLst>
          </p:cNvPr>
          <p:cNvCxnSpPr/>
          <p:nvPr/>
        </p:nvCxnSpPr>
        <p:spPr>
          <a:xfrm flipH="1">
            <a:off x="4746416" y="5153935"/>
            <a:ext cx="1449261" cy="372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32DDFB4-8C89-FB9D-D012-D234BD4065F3}"/>
              </a:ext>
            </a:extLst>
          </p:cNvPr>
          <p:cNvCxnSpPr/>
          <p:nvPr/>
        </p:nvCxnSpPr>
        <p:spPr>
          <a:xfrm flipV="1">
            <a:off x="7612647" y="3561276"/>
            <a:ext cx="1124953" cy="1301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31E37D0-FC3E-E90D-4A76-AC2A83AA7C89}"/>
              </a:ext>
            </a:extLst>
          </p:cNvPr>
          <p:cNvCxnSpPr/>
          <p:nvPr/>
        </p:nvCxnSpPr>
        <p:spPr>
          <a:xfrm flipH="1">
            <a:off x="7687029" y="3505150"/>
            <a:ext cx="1247035" cy="1403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47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5C346-C122-67EC-7E00-51669739C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872" y="-720692"/>
            <a:ext cx="9418320" cy="1441383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Abadi" panose="020B0604020104020204" pitchFamily="34" charset="0"/>
              </a:rPr>
              <a:t>Dataflow</a:t>
            </a:r>
            <a:endParaRPr lang="LID4096" sz="4000" dirty="0">
              <a:latin typeface="Abadi" panose="020B06040201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4E2E0-B4B7-CF58-C05B-BB022DF41E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D21BAF-3AD9-67C2-83CE-B74F97BDE3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47" y="1025525"/>
            <a:ext cx="5050155" cy="5302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855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E1865-C51F-F675-1121-05609C287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8FB5C8-4E7C-A139-D8A8-965844797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55D64-77CD-1A34-D393-57F1EF4971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799" y="-170743"/>
            <a:ext cx="12319597" cy="69423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37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D02E-1068-A06D-EE57-849F8298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800B7-8F01-B75A-1717-9C33087A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66" y="131353"/>
            <a:ext cx="7950984" cy="1081705"/>
          </a:xfrm>
        </p:spPr>
        <p:txBody>
          <a:bodyPr/>
          <a:lstStyle/>
          <a:p>
            <a:r>
              <a:rPr lang="nl-NL" dirty="0">
                <a:latin typeface="Abadi" panose="020B0604020104020204" pitchFamily="34" charset="0"/>
              </a:rPr>
              <a:t>Demo Device</a:t>
            </a:r>
            <a:endParaRPr lang="nl-NL" dirty="0">
              <a:latin typeface="Abadi" panose="020B0604020104020204" pitchFamily="34" charset="0"/>
              <a:cs typeface="Arial"/>
            </a:endParaRP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1A9D1C9-0A71-EEC5-101E-F85D8811E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28585" y="1241633"/>
            <a:ext cx="3894222" cy="36895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4170" indent="-344170"/>
            <a:endParaRPr lang="nl-NL">
              <a:cs typeface="Arial" panose="020B0604020202020204"/>
            </a:endParaRPr>
          </a:p>
          <a:p>
            <a:pPr marL="344170" indent="-344170"/>
            <a:endParaRPr lang="nl-NL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84068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5500-553C-5A31-517F-398A9B6E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60" y="0"/>
            <a:ext cx="9692640" cy="735825"/>
          </a:xfrm>
        </p:spPr>
        <p:txBody>
          <a:bodyPr/>
          <a:lstStyle/>
          <a:p>
            <a:r>
              <a:rPr lang="nl-NL" dirty="0">
                <a:latin typeface="Abadi" panose="020B0604020104020204" pitchFamily="34" charset="0"/>
              </a:rPr>
              <a:t>Demo Admin Dashboard</a:t>
            </a:r>
            <a:endParaRPr lang="LID4096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9A7ECF-128E-E12F-53D8-91D5B4AD3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" y="1803164"/>
            <a:ext cx="4791075" cy="32225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B078F-C29B-9238-8879-AC9D15653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1889474"/>
            <a:ext cx="6096000" cy="30790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14DB41-ACF9-EC8F-22A1-C3285E66106B}"/>
              </a:ext>
            </a:extLst>
          </p:cNvPr>
          <p:cNvSpPr txBox="1"/>
          <p:nvPr/>
        </p:nvSpPr>
        <p:spPr>
          <a:xfrm>
            <a:off x="685800" y="1009650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Dashboard 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E9EF2-7012-36DA-F6F2-2143E80FFC5D}"/>
              </a:ext>
            </a:extLst>
          </p:cNvPr>
          <p:cNvSpPr txBox="1"/>
          <p:nvPr/>
        </p:nvSpPr>
        <p:spPr>
          <a:xfrm>
            <a:off x="6096000" y="942975"/>
            <a:ext cx="435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Admin dashboard v2</a:t>
            </a:r>
          </a:p>
        </p:txBody>
      </p:sp>
    </p:spTree>
    <p:extLst>
      <p:ext uri="{BB962C8B-B14F-4D97-AF65-F5344CB8AC3E}">
        <p14:creationId xmlns:p14="http://schemas.microsoft.com/office/powerpoint/2010/main" val="178605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A699-28B7-1517-4C7C-3A194D045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5" y="344614"/>
            <a:ext cx="10156435" cy="107632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85000"/>
              </a:lnSpc>
            </a:pPr>
            <a:r>
              <a:rPr lang="en-US" sz="3800" dirty="0" err="1">
                <a:latin typeface="Abadi" panose="020B0604020104020204" pitchFamily="34" charset="0"/>
              </a:rPr>
              <a:t>Progressie</a:t>
            </a:r>
            <a:br>
              <a:rPr lang="en-US" sz="3800" dirty="0">
                <a:latin typeface="Abadi" panose="020B0604020104020204" pitchFamily="34" charset="0"/>
              </a:rPr>
            </a:br>
            <a:endParaRPr lang="en-US" sz="3800" dirty="0">
              <a:latin typeface="Abadi" panose="020B06040201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BA37-2948-345D-B487-8216538D7D67}"/>
              </a:ext>
            </a:extLst>
          </p:cNvPr>
          <p:cNvSpPr txBox="1"/>
          <p:nvPr/>
        </p:nvSpPr>
        <p:spPr>
          <a:xfrm>
            <a:off x="370965" y="1843659"/>
            <a:ext cx="3096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100% </a:t>
            </a:r>
            <a:r>
              <a:rPr lang="en-GB" dirty="0" err="1">
                <a:latin typeface="Abadi" panose="020B0604020104020204" pitchFamily="34" charset="0"/>
              </a:rPr>
              <a:t>af</a:t>
            </a:r>
            <a:endParaRPr lang="en-GB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Abadi" panose="020B0604020104020204" pitchFamily="34" charset="0"/>
              </a:rPr>
              <a:t>Grootste</a:t>
            </a:r>
            <a:r>
              <a:rPr lang="en-GB" dirty="0">
                <a:latin typeface="Abadi" panose="020B0604020104020204" pitchFamily="34" charset="0"/>
              </a:rPr>
              <a:t> </a:t>
            </a:r>
            <a:r>
              <a:rPr lang="en-GB" dirty="0" err="1">
                <a:latin typeface="Abadi" panose="020B0604020104020204" pitchFamily="34" charset="0"/>
              </a:rPr>
              <a:t>uitdaging</a:t>
            </a:r>
            <a:endParaRPr lang="LID4096" dirty="0">
              <a:latin typeface="Abadi" panose="020B0604020104020204" pitchFamily="34" charset="0"/>
            </a:endParaRPr>
          </a:p>
        </p:txBody>
      </p:sp>
      <p:pic>
        <p:nvPicPr>
          <p:cNvPr id="4" name="Picture 3" descr="A graph showing a blue line&#10;&#10;AI-generated content may be incorrect.">
            <a:extLst>
              <a:ext uri="{FF2B5EF4-FFF2-40B4-BE49-F238E27FC236}">
                <a16:creationId xmlns:a16="http://schemas.microsoft.com/office/drawing/2014/main" id="{81770A67-DE0A-2F33-BFDC-B2DA8EF87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734" y="641954"/>
            <a:ext cx="7543165" cy="46825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3140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2637-F169-CE81-3471-5812E5208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972" y="166045"/>
            <a:ext cx="9692640" cy="764222"/>
          </a:xfrm>
        </p:spPr>
        <p:txBody>
          <a:bodyPr/>
          <a:lstStyle/>
          <a:p>
            <a:r>
              <a:rPr lang="en-GB" dirty="0" err="1">
                <a:latin typeface="Abadi" panose="020B0604020104020204" pitchFamily="34" charset="0"/>
              </a:rPr>
              <a:t>Toekomst</a:t>
            </a:r>
            <a:r>
              <a:rPr lang="en-GB" dirty="0">
                <a:latin typeface="Abadi" panose="020B0604020104020204" pitchFamily="34" charset="0"/>
              </a:rPr>
              <a:t> </a:t>
            </a:r>
            <a:r>
              <a:rPr lang="en-GB" dirty="0" err="1">
                <a:latin typeface="Abadi" panose="020B0604020104020204" pitchFamily="34" charset="0"/>
              </a:rPr>
              <a:t>visie</a:t>
            </a:r>
            <a:endParaRPr lang="LID4096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9FD5D-7191-D502-6B86-803CEDE67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5972" y="1072947"/>
            <a:ext cx="4480560" cy="4351337"/>
          </a:xfrm>
        </p:spPr>
        <p:txBody>
          <a:bodyPr>
            <a:normAutofit/>
          </a:bodyPr>
          <a:lstStyle/>
          <a:p>
            <a:r>
              <a:rPr lang="nl-NL" dirty="0">
                <a:latin typeface="Abadi" panose="020B0604020104020204" pitchFamily="34" charset="0"/>
              </a:rPr>
              <a:t>Hardware</a:t>
            </a:r>
          </a:p>
          <a:p>
            <a:pPr lvl="1"/>
            <a:r>
              <a:rPr lang="nl-NL" dirty="0">
                <a:latin typeface="Abadi" panose="020B0604020104020204" pitchFamily="34" charset="0"/>
              </a:rPr>
              <a:t>Professionelere behuizing</a:t>
            </a:r>
          </a:p>
          <a:p>
            <a:r>
              <a:rPr lang="nl-NL" dirty="0">
                <a:latin typeface="Abadi" panose="020B0604020104020204" pitchFamily="34" charset="0"/>
              </a:rPr>
              <a:t>Streamline Dashboard</a:t>
            </a:r>
          </a:p>
          <a:p>
            <a:r>
              <a:rPr lang="nl-NL" dirty="0">
                <a:latin typeface="Abadi" panose="020B0604020104020204" pitchFamily="34" charset="0"/>
              </a:rPr>
              <a:t>Software</a:t>
            </a:r>
          </a:p>
          <a:p>
            <a:pPr lvl="1"/>
            <a:r>
              <a:rPr lang="nl-NL" dirty="0">
                <a:latin typeface="Abadi" panose="020B0604020104020204" pitchFamily="34" charset="0"/>
              </a:rPr>
              <a:t>Security</a:t>
            </a:r>
          </a:p>
          <a:p>
            <a:r>
              <a:rPr lang="nl-NL" dirty="0">
                <a:latin typeface="Abadi" panose="020B0604020104020204" pitchFamily="34" charset="0"/>
              </a:rPr>
              <a:t>Deployment</a:t>
            </a:r>
          </a:p>
          <a:p>
            <a:r>
              <a:rPr lang="nl-NL" dirty="0">
                <a:latin typeface="Abadi" panose="020B0604020104020204" pitchFamily="34" charset="0"/>
              </a:rPr>
              <a:t>PCB ontwerp</a:t>
            </a:r>
          </a:p>
          <a:p>
            <a:pPr marL="274320" lvl="1" indent="0">
              <a:buNone/>
            </a:pPr>
            <a:endParaRPr lang="nl-NL" dirty="0"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A553D4-BE44-9830-088A-D19411C59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680" y="4095575"/>
            <a:ext cx="3316298" cy="2180941"/>
          </a:xfrm>
          <a:prstGeom prst="rect">
            <a:avLst/>
          </a:prstGeom>
        </p:spPr>
      </p:pic>
      <p:pic>
        <p:nvPicPr>
          <p:cNvPr id="3074" name="Picture 2" descr="Circuit Board Stickers - 50 stuks">
            <a:extLst>
              <a:ext uri="{FF2B5EF4-FFF2-40B4-BE49-F238E27FC236}">
                <a16:creationId xmlns:a16="http://schemas.microsoft.com/office/drawing/2014/main" id="{47A9FD27-B817-5198-0202-93DC3F4F3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889" y="4120263"/>
            <a:ext cx="2990719" cy="213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9A3586-15C8-BF07-DC93-790F68A0F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577" y="1354414"/>
            <a:ext cx="2268031" cy="234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483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9ACE-E686-83A9-25E5-CF203EC2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07311-F55E-F90E-1630-A7FACCD65E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1D488-C84E-A82C-5E98-87F68DA84A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693C3F-831D-27F5-FBF7-D9C7B1CDE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226" y="-1"/>
            <a:ext cx="9422096" cy="3429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A7F1F7-9933-60E3-3F0C-2BA56272A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226" y="3429000"/>
            <a:ext cx="9419120" cy="34899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D0B465-A974-0EEE-258E-0E9B6BF16C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887"/>
          <a:stretch/>
        </p:blipFill>
        <p:spPr>
          <a:xfrm>
            <a:off x="-72784" y="0"/>
            <a:ext cx="2410010" cy="691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51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2CE8-BF48-D592-420A-559E98C7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Retrospective</a:t>
            </a:r>
            <a:endParaRPr lang="LID4096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A0429-4E23-F89D-44C1-4BE2054AAC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Veel </a:t>
            </a:r>
            <a:r>
              <a:rPr lang="en-GB" dirty="0" err="1"/>
              <a:t>Geleerd</a:t>
            </a:r>
            <a:endParaRPr lang="en-GB" dirty="0"/>
          </a:p>
          <a:p>
            <a:r>
              <a:rPr lang="en-GB" dirty="0"/>
              <a:t>Super Leuk</a:t>
            </a:r>
          </a:p>
          <a:p>
            <a:r>
              <a:rPr lang="en-GB" dirty="0" err="1"/>
              <a:t>Werken</a:t>
            </a:r>
            <a:r>
              <a:rPr lang="en-GB" dirty="0"/>
              <a:t> in team</a:t>
            </a:r>
          </a:p>
          <a:p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6FE8D-730A-083A-1AED-67B5BA4805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1069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B855-E904-6242-6B7B-9E82331E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913E-C300-7D63-0072-69B41BAE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-195980"/>
            <a:ext cx="9692640" cy="1325562"/>
          </a:xfrm>
        </p:spPr>
        <p:txBody>
          <a:bodyPr/>
          <a:lstStyle/>
          <a:p>
            <a:r>
              <a:rPr lang="en-GB" dirty="0" err="1">
                <a:latin typeface="Abadi" panose="020B0604020104020204" pitchFamily="34" charset="0"/>
              </a:rPr>
              <a:t>Vragen</a:t>
            </a:r>
            <a:r>
              <a:rPr lang="en-GB" dirty="0">
                <a:latin typeface="Abadi" panose="020B0604020104020204" pitchFamily="34" charset="0"/>
              </a:rPr>
              <a:t>?</a:t>
            </a:r>
            <a:endParaRPr lang="LID4096" dirty="0">
              <a:latin typeface="Abadi" panose="020B0604020104020204" pitchFamily="34" charset="0"/>
            </a:endParaRPr>
          </a:p>
        </p:txBody>
      </p:sp>
      <p:pic>
        <p:nvPicPr>
          <p:cNvPr id="1028" name="Picture 4" descr="The original image of the Monkey Thinking meme : r/TheMatpatEffect">
            <a:extLst>
              <a:ext uri="{FF2B5EF4-FFF2-40B4-BE49-F238E27FC236}">
                <a16:creationId xmlns:a16="http://schemas.microsoft.com/office/drawing/2014/main" id="{D3E9413A-550C-A888-81F9-532F82B54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935" y="1536700"/>
            <a:ext cx="6774230" cy="450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30427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1148</TotalTime>
  <Words>1031</Words>
  <Application>Microsoft Office PowerPoint</Application>
  <PresentationFormat>Widescreen</PresentationFormat>
  <Paragraphs>119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Abadi</vt:lpstr>
      <vt:lpstr>Arial</vt:lpstr>
      <vt:lpstr>Calibri</vt:lpstr>
      <vt:lpstr>Century Schoolbook</vt:lpstr>
      <vt:lpstr>Wingdings 2</vt:lpstr>
      <vt:lpstr>View</vt:lpstr>
      <vt:lpstr>Attendance Systeem</vt:lpstr>
      <vt:lpstr>Inhoud</vt:lpstr>
      <vt:lpstr>Context Bedrijf </vt:lpstr>
      <vt:lpstr>Het Probleem</vt:lpstr>
      <vt:lpstr>De Oplossing</vt:lpstr>
      <vt:lpstr>Dataflow</vt:lpstr>
      <vt:lpstr>PowerPoint Presentation</vt:lpstr>
      <vt:lpstr>Demo Device</vt:lpstr>
      <vt:lpstr>Demo Admin Dashboard</vt:lpstr>
      <vt:lpstr>Progressie </vt:lpstr>
      <vt:lpstr>Toekomst visie</vt:lpstr>
      <vt:lpstr>PowerPoint Presentation</vt:lpstr>
      <vt:lpstr>Retrospective</vt:lpstr>
      <vt:lpstr>Vragen?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IOT-hub</dc:title>
  <dc:creator>Derk Ottersberg</dc:creator>
  <cp:lastModifiedBy>Derk Ottersberg (1076265)</cp:lastModifiedBy>
  <cp:revision>19</cp:revision>
  <dcterms:created xsi:type="dcterms:W3CDTF">2025-03-28T13:06:22Z</dcterms:created>
  <dcterms:modified xsi:type="dcterms:W3CDTF">2026-02-01T13:06:18Z</dcterms:modified>
</cp:coreProperties>
</file>